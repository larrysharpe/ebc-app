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affirming the Leadership Conference. This briefing is about coordinating communications and digital work already underway—not creating a new ministry or restructuring.</a:t>
            </a:r>
          </a:p>
          <a:p>
            <a:r>
              <a:t>Keep the room focused: one workstream, clear ask, short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this slide. Many leaders only need this page.</a:t>
            </a:r>
          </a:p>
          <a:p>
            <a:r>
              <a:t>If time is short, jump from here to Recommendations and Decision.</a:t>
            </a:r>
          </a:p>
          <a:p>
            <a:r>
              <a:t>Emphasize the three “nots” early to reduce anxiety.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diagram only. Conference work was excellent; we are operationalizing it.</a:t>
            </a:r>
          </a:p>
          <a:p>
            <a:r>
              <a:t>Gold box = coordination layer, not a new org box on a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benefits, plain language. No jargon beyond “workstream.”</a:t>
            </a:r>
          </a:p>
          <a:p>
            <a:r>
              <a:t>Define workstream once: a coordination group for related initiatives—not a ministry.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mission. Point to the three Conference objectives—coordinated, not replaced.</a:t>
            </a:r>
          </a:p>
          <a:p>
            <a:r>
              <a:t>This is the only workstream in this briefing; others can be separate presentations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visual for ministry leaders. The workstream amplifies their voice; it does not oversee their ministry.</a:t>
            </a:r>
          </a:p>
          <a:p>
            <a:r>
              <a:t>Repeat the banner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metrics few and understandable. Targets set with the Operational Lead—not tonight.</a:t>
            </a:r>
          </a:p>
          <a:p>
            <a:r>
              <a:t>Avoid vanity-only metrics; guests and completed requests matter to ministry.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ownership simple: Sponsor, Lead, Supporting Ministries.</a:t>
            </a:r>
          </a:p>
          <a:p>
            <a:r>
              <a:t>Roadmap is deliberately light—four milestones, one year.</a:t>
            </a:r>
          </a:p>
          <a:p>
            <a:r>
              <a:t>Ask who might serve as Operational Lead only if the room is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Seek a clear decision: endorse in principle; authorize Q1 lead identification.</a:t>
            </a:r>
          </a:p>
          <a:p>
            <a:r>
              <a:t>If they want more detail later, offer a working session—not another full briefing.</a:t>
            </a:r>
          </a:p>
          <a:p>
            <a:r>
              <a:t>Record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gratitude and the ask already stated on the prior slide.</a:t>
            </a:r>
          </a:p>
          <a:p>
            <a:r>
              <a:t>Invite brief questions, then lock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749262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651760"/>
            <a:ext cx="1051560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200" b="1">
                <a:solidFill>
                  <a:srgbClr val="A08020"/>
                </a:solidFill>
                <a:latin typeface="Calibri"/>
              </a:rPr>
              <a:t>LEADERSHIP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789920" cy="10972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Communications &amp;
Digital Engagement Workstream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43400"/>
            <a:ext cx="1371600" cy="317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0">
                <a:solidFill>
                  <a:srgbClr val="C4A84A"/>
                </a:solidFill>
                <a:latin typeface="Calibri"/>
              </a:rPr>
              <a:t>Building upon the Leadership Conference
to strengthen execution—not reorganize ministries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05840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200" b="0">
                <a:solidFill>
                  <a:srgbClr val="D8D2CC"/>
                </a:solidFill>
                <a:latin typeface="Calibri"/>
              </a:rPr>
              <a:t>Ebenezer Baptist Church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ONE-PAGE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600" b="1">
                <a:solidFill>
                  <a:srgbClr val="802020"/>
                </a:solidFill>
                <a:latin typeface="Calibri"/>
              </a:rPr>
              <a:t>The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&amp; Digital Engagement Workstream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t"/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A08020"/>
                </a:solidFill>
                <a:latin typeface="Calibri"/>
              </a:rPr>
              <a:t>What we are proposing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2A2A2A"/>
                </a:solidFill>
                <a:latin typeface="Calibri"/>
              </a:rPr>
              <a:t>Create an Operational Workstream that coordinates three related Leadership Conference objectives so they move together with shared planning, clear ownership, and measurable results.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A08020"/>
                </a:solidFill>
                <a:latin typeface="Calibri"/>
              </a:rPr>
              <a:t>What this is not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802020"/>
                </a:solidFill>
                <a:latin typeface="Calibri"/>
              </a:rPr>
              <a:t>Not a reorganization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802020"/>
                </a:solidFill>
                <a:latin typeface="Calibri"/>
              </a:rPr>
              <a:t>Not a new ministry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802020"/>
                </a:solidFill>
                <a:latin typeface="Calibri"/>
              </a:rPr>
              <a:t>Not a bylaw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5087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417320"/>
            <a:ext cx="40233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800" b="1">
                <a:solidFill>
                  <a:srgbClr val="802020"/>
                </a:solidFill>
                <a:latin typeface="Calibri"/>
              </a:rPr>
              <a:t>Endorse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828800"/>
            <a:ext cx="4023360" cy="50292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Adopt this workstream as the way we execute these Conference objectives.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30632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971800"/>
            <a:ext cx="40233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800" b="1">
                <a:solidFill>
                  <a:srgbClr val="802020"/>
                </a:solidFill>
                <a:latin typeface="Calibri"/>
              </a:rPr>
              <a:t>Name a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83280"/>
            <a:ext cx="4023360" cy="50292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Identify an Operational Lead in the next 90 days.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519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6177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26280"/>
            <a:ext cx="40233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800" b="1">
                <a:solidFill>
                  <a:srgbClr val="802020"/>
                </a:solidFill>
                <a:latin typeface="Calibri"/>
              </a:rPr>
              <a:t>Review Quarterly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937760"/>
            <a:ext cx="4023360" cy="50292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Receive a simple progress update each quarter.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VISION →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600" b="1">
                <a:solidFill>
                  <a:srgbClr val="802020"/>
                </a:solidFill>
                <a:latin typeface="Calibri"/>
              </a:rPr>
              <a:t>Building Upon the Conference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&amp; Digital Engagement Workstream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Leadership
Conference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Vision set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14800" y="2240280"/>
            <a:ext cx="274320" cy="411480"/>
          </a:xfrm>
          <a:prstGeom prst="rightArrow">
            <a:avLst/>
          </a:prstGeom>
          <a:solidFill>
            <a:srgbClr val="A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Related
Objectives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Priorities named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9560" y="2240280"/>
            <a:ext cx="274320" cy="411480"/>
          </a:xfrm>
          <a:prstGeom prst="rightArrow">
            <a:avLst/>
          </a:prstGeom>
          <a:solidFill>
            <a:srgbClr val="A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501418"/>
                </a:solidFill>
                <a:latin typeface="Calibri"/>
              </a:rPr>
              <a:t>This
Workstream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01418"/>
                </a:solidFill>
                <a:latin typeface="Calibri"/>
              </a:rPr>
              <a:t>Execution coordinated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10881360" cy="196596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802020"/>
                </a:solidFill>
                <a:latin typeface="Calibri"/>
              </a:rPr>
              <a:t>Focus: better coordination and execution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2A2A2A"/>
                </a:solidFill>
                <a:latin typeface="Calibri"/>
              </a:rPr>
              <a:t>Every Leadership Conference objective remains intact. This workstream helps related communications and digital initiatives plan together, communicate clearly, and show measurable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COORDINATE WHAT ALREADY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600" b="1">
                <a:solidFill>
                  <a:srgbClr val="802020"/>
                </a:solidFill>
                <a:latin typeface="Calibri"/>
              </a:rPr>
              <a:t>Why a Workstream?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&amp; Digital Engagement Workstream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3657600" cy="109728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320040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800" b="1">
                <a:solidFill>
                  <a:srgbClr val="802020"/>
                </a:solidFill>
                <a:latin typeface="Calibri"/>
              </a:rPr>
              <a:t>Shared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108960" cy="6400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400" b="0">
                <a:solidFill>
                  <a:srgbClr val="5C5552"/>
                </a:solidFill>
                <a:latin typeface="Calibri"/>
              </a:rPr>
              <a:t>One calendar, aligned priorities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3657600" cy="109728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691640"/>
            <a:ext cx="320040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800" b="1">
                <a:solidFill>
                  <a:srgbClr val="802020"/>
                </a:solidFill>
                <a:latin typeface="Calibri"/>
              </a:rPr>
              <a:t>Clear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3108960" cy="6400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400" b="0">
                <a:solidFill>
                  <a:srgbClr val="5C5552"/>
                </a:solidFill>
                <a:latin typeface="Calibri"/>
              </a:rPr>
              <a:t>Someone accountable for cadence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344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34440"/>
            <a:ext cx="3657600" cy="109728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691640"/>
            <a:ext cx="320040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800" b="1">
                <a:solidFill>
                  <a:srgbClr val="802020"/>
                </a:solidFill>
                <a:latin typeface="Calibri"/>
              </a:rPr>
              <a:t>Consistent 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3108960" cy="6400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400" b="0">
                <a:solidFill>
                  <a:srgbClr val="5C5552"/>
                </a:solidFill>
                <a:latin typeface="Calibri"/>
              </a:rPr>
              <a:t>Messaging that supports every ministry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204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20440"/>
            <a:ext cx="3657600" cy="109728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77640"/>
            <a:ext cx="320040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800" b="1">
                <a:solidFill>
                  <a:srgbClr val="802020"/>
                </a:solidFill>
                <a:latin typeface="Calibri"/>
              </a:rPr>
              <a:t>Less 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3108960" cy="6400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400" b="0">
                <a:solidFill>
                  <a:srgbClr val="5C5552"/>
                </a:solidFill>
                <a:latin typeface="Calibri"/>
              </a:rPr>
              <a:t>Fewer parallel efforts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5204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520440"/>
            <a:ext cx="3657600" cy="109728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977640"/>
            <a:ext cx="320040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800" b="1">
                <a:solidFill>
                  <a:srgbClr val="802020"/>
                </a:solidFill>
                <a:latin typeface="Calibri"/>
              </a:rPr>
              <a:t>Measurable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572000"/>
            <a:ext cx="3108960" cy="6400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400" b="0">
                <a:solidFill>
                  <a:srgbClr val="5C5552"/>
                </a:solidFill>
                <a:latin typeface="Calibri"/>
              </a:rPr>
              <a:t>Simple metrics leadership can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5204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520440"/>
            <a:ext cx="3657600" cy="109728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977640"/>
            <a:ext cx="320040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800" b="1">
                <a:solidFill>
                  <a:srgbClr val="802020"/>
                </a:solidFill>
                <a:latin typeface="Calibri"/>
              </a:rPr>
              <a:t>Sustainable 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572000"/>
            <a:ext cx="3108960" cy="6400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400" b="0">
                <a:solidFill>
                  <a:srgbClr val="5C5552"/>
                </a:solidFill>
                <a:latin typeface="Calibri"/>
              </a:rPr>
              <a:t>Quarterly rhythm, not one-time push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MISSION &amp; CONFERENCE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600" b="1">
                <a:solidFill>
                  <a:srgbClr val="802020"/>
                </a:solidFill>
                <a:latin typeface="Calibri"/>
              </a:rPr>
              <a:t>Communications Workstream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&amp; Digital Engagement Workstream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08020"/>
                </a:solidFill>
                <a:latin typeface="Calibri"/>
              </a:rPr>
              <a:t>MISSION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Coordinate communication and digital engagement initiatives to strengthen visibility, consistency, outreach, and support for every ministry.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097280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Calibri"/>
              </a:rPr>
              <a:t>Supports these Leadership Conference 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802020"/>
                </a:solidFill>
                <a:latin typeface="Calibri"/>
              </a:rPr>
              <a:t>Digital Ministry &amp;
Innovation Team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C5552"/>
                </a:solidFill>
                <a:latin typeface="Calibri"/>
              </a:rPr>
              <a:t>Innovation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3657600" cy="914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31546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802020"/>
                </a:solidFill>
                <a:latin typeface="Calibri"/>
              </a:rPr>
              <a:t>E-Ministry &amp;
Digital Campus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C5552"/>
                </a:solidFill>
                <a:latin typeface="Calibri"/>
              </a:rPr>
              <a:t>Digital presence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154680"/>
            <a:ext cx="3657600" cy="914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1546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802020"/>
                </a:solidFill>
                <a:latin typeface="Calibri"/>
              </a:rPr>
              <a:t>Media &amp;
Community Outreach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C5552"/>
                </a:solidFill>
                <a:latin typeface="Calibri"/>
              </a:rPr>
              <a:t>Public witness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154680"/>
            <a:ext cx="3657600" cy="914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SHARED SERVICE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600" b="1">
                <a:solidFill>
                  <a:srgbClr val="802020"/>
                </a:solidFill>
                <a:latin typeface="Calibri"/>
              </a:rPr>
              <a:t>Supports Every Ministry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&amp; Digital Engagement Workstream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8803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Communications &amp;
Digital Engagement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A08020"/>
                </a:solidFill>
                <a:latin typeface="Calibri"/>
              </a:rPr>
              <a:t>Workstream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3444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802020"/>
                </a:solidFill>
                <a:latin typeface="Calibri"/>
              </a:rPr>
              <a:t>Pastor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23444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802020"/>
                </a:solidFill>
                <a:latin typeface="Calibri"/>
              </a:rPr>
              <a:t>Youth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23444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802020"/>
                </a:solidFill>
                <a:latin typeface="Calibri"/>
              </a:rPr>
              <a:t>Women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23444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802020"/>
                </a:solidFill>
                <a:latin typeface="Calibri"/>
              </a:rPr>
              <a:t>Men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23444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802020"/>
                </a:solidFill>
                <a:latin typeface="Calibri"/>
              </a:rPr>
              <a:t>Christian 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3776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802020"/>
                </a:solidFill>
                <a:latin typeface="Calibri"/>
              </a:rPr>
              <a:t>Music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93776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802020"/>
                </a:solidFill>
                <a:latin typeface="Calibri"/>
              </a:rPr>
              <a:t>Missionary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493776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802020"/>
                </a:solidFill>
                <a:latin typeface="Calibri"/>
              </a:rPr>
              <a:t>Outreach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493776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802020"/>
                </a:solidFill>
                <a:latin typeface="Calibri"/>
              </a:rPr>
              <a:t>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493776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802020"/>
                </a:solidFill>
                <a:latin typeface="Calibri"/>
              </a:rPr>
              <a:t>Media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760720"/>
            <a:ext cx="8503920" cy="457200"/>
          </a:xfrm>
          <a:prstGeom prst="roundRect">
            <a:avLst>
              <a:gd name="adj" fmla="val 8000"/>
            </a:avLst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501418"/>
                </a:solidFill>
                <a:latin typeface="Calibri"/>
              </a:rPr>
              <a:t>Supporting ministries — not replacing any ministry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WHAT SUCCESS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600" b="1">
                <a:solidFill>
                  <a:srgbClr val="802020"/>
                </a:solidFill>
                <a:latin typeface="Calibri"/>
              </a:rPr>
              <a:t>Outcomes &amp;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&amp; Digital Engagement Workstream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2788920" cy="41148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07008"/>
            <a:ext cx="260604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251460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2A2A2A"/>
                </a:solidFill>
                <a:latin typeface="Calibri"/>
              </a:rPr>
              <a:t>Consistent messaging
Shared calendar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14300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143000"/>
            <a:ext cx="2788920" cy="41148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207008"/>
            <a:ext cx="260604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737360"/>
            <a:ext cx="251460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2A2A2A"/>
                </a:solidFill>
                <a:latin typeface="Calibri"/>
              </a:rPr>
              <a:t>Website · Social
Livestream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14300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143000"/>
            <a:ext cx="2788920" cy="41148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207008"/>
            <a:ext cx="260604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Creative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37360"/>
            <a:ext cx="251460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2A2A2A"/>
                </a:solidFill>
                <a:latin typeface="Calibri"/>
              </a:rPr>
              <a:t>Photo · Video
Graphics · Signage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14300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143000"/>
            <a:ext cx="2788920" cy="41148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207008"/>
            <a:ext cx="260604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Innovation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737360"/>
            <a:ext cx="251460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2A2A2A"/>
                </a:solidFill>
                <a:latin typeface="Calibri"/>
              </a:rPr>
              <a:t>AI tools · Forms
Dashboards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1097280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Calibri"/>
              </a:rPr>
              <a:t>Leadership review metrics (baseline → target)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118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500" b="1">
                <a:solidFill>
                  <a:srgbClr val="802020"/>
                </a:solidFill>
                <a:latin typeface="Calibri"/>
              </a:rPr>
              <a:t>Website Visitors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11880"/>
            <a:ext cx="63500" cy="10058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97680" y="36118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500" b="1">
                <a:solidFill>
                  <a:srgbClr val="802020"/>
                </a:solidFill>
                <a:latin typeface="Calibri"/>
              </a:rPr>
              <a:t>Social Reach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611880"/>
            <a:ext cx="63500" cy="10058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6118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500" b="1">
                <a:solidFill>
                  <a:srgbClr val="802020"/>
                </a:solidFill>
                <a:latin typeface="Calibri"/>
              </a:rPr>
              <a:t>Livestream Attendance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611880"/>
            <a:ext cx="63500" cy="10058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47548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500" b="1">
                <a:solidFill>
                  <a:srgbClr val="802020"/>
                </a:solidFill>
                <a:latin typeface="Calibri"/>
              </a:rPr>
              <a:t>First-Time Guests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54880"/>
            <a:ext cx="63500" cy="10058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97680" y="47548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500" b="1">
                <a:solidFill>
                  <a:srgbClr val="802020"/>
                </a:solidFill>
                <a:latin typeface="Calibri"/>
              </a:rPr>
              <a:t>Volunteer Growth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4754880"/>
            <a:ext cx="63500" cy="10058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38160" y="47548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500" b="1">
                <a:solidFill>
                  <a:srgbClr val="802020"/>
                </a:solidFill>
                <a:latin typeface="Calibri"/>
              </a:rPr>
              <a:t>Requests Completed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4754880"/>
            <a:ext cx="63500" cy="10058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OWNERSHIP &amp; 12-MONTH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600" b="1">
                <a:solidFill>
                  <a:srgbClr val="802020"/>
                </a:solidFill>
                <a:latin typeface="Calibri"/>
              </a:rPr>
              <a:t>How We Run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&amp; Digital Engagement Workstream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3657600" cy="914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329184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600" b="1">
                <a:solidFill>
                  <a:srgbClr val="802020"/>
                </a:solidFill>
                <a:latin typeface="Calibri"/>
              </a:rPr>
              <a:t>Executive Sponsor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3200400" cy="7772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5C5552"/>
                </a:solidFill>
                <a:latin typeface="Calibri"/>
              </a:rPr>
              <a:t>Champions the workstream;
removes barriers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430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43000"/>
            <a:ext cx="3657600" cy="914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17320"/>
            <a:ext cx="329184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600" b="1">
                <a:solidFill>
                  <a:srgbClr val="802020"/>
                </a:solidFill>
                <a:latin typeface="Calibri"/>
              </a:rPr>
              <a:t>Operational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965960"/>
            <a:ext cx="3200400" cy="7772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5C5552"/>
                </a:solidFill>
                <a:latin typeface="Calibri"/>
              </a:rPr>
              <a:t>Runs planning cadence;
coordinates partners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430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657600" cy="9144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17320"/>
            <a:ext cx="329184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600" b="1">
                <a:solidFill>
                  <a:srgbClr val="802020"/>
                </a:solidFill>
                <a:latin typeface="Calibri"/>
              </a:rPr>
              <a:t>Supporting Ministries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965960"/>
            <a:ext cx="3200400" cy="7772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5C5552"/>
                </a:solidFill>
                <a:latin typeface="Calibri"/>
              </a:rPr>
              <a:t>Bring needs &amp; content;
share in the 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60520"/>
            <a:ext cx="10881360" cy="381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91640" y="3977639"/>
            <a:ext cx="365760" cy="365760"/>
          </a:xfrm>
          <a:prstGeom prst="ellipse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720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08020"/>
                </a:solidFill>
                <a:latin typeface="Calibri"/>
              </a:rPr>
              <a:t>Q1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802020"/>
                </a:solidFill>
                <a:latin typeface="Calibri"/>
              </a:rPr>
              <a:t>Name Lead</a:t>
            </a:r>
          </a:p>
        </p:txBody>
      </p:sp>
      <p:sp>
        <p:nvSpPr>
          <p:cNvPr id="25" name="Oval 24"/>
          <p:cNvSpPr/>
          <p:nvPr/>
        </p:nvSpPr>
        <p:spPr>
          <a:xfrm>
            <a:off x="4480560" y="3977639"/>
            <a:ext cx="365760" cy="365760"/>
          </a:xfrm>
          <a:prstGeom prst="ellipse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5720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08020"/>
                </a:solidFill>
                <a:latin typeface="Calibri"/>
              </a:rPr>
              <a:t>Q2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802020"/>
                </a:solidFill>
                <a:latin typeface="Calibri"/>
              </a:rPr>
              <a:t>Annual Plan</a:t>
            </a:r>
          </a:p>
        </p:txBody>
      </p:sp>
      <p:sp>
        <p:nvSpPr>
          <p:cNvPr id="27" name="Oval 26"/>
          <p:cNvSpPr/>
          <p:nvPr/>
        </p:nvSpPr>
        <p:spPr>
          <a:xfrm>
            <a:off x="7269480" y="3977639"/>
            <a:ext cx="365760" cy="365760"/>
          </a:xfrm>
          <a:prstGeom prst="ellipse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5720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08020"/>
                </a:solidFill>
                <a:latin typeface="Calibri"/>
              </a:rPr>
              <a:t>Q3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802020"/>
                </a:solidFill>
                <a:latin typeface="Calibri"/>
              </a:rPr>
              <a:t>KPI Dashboard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0" y="3977639"/>
            <a:ext cx="365760" cy="365760"/>
          </a:xfrm>
          <a:prstGeom prst="ellipse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45720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08020"/>
                </a:solidFill>
                <a:latin typeface="Calibri"/>
              </a:rPr>
              <a:t>Q4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802020"/>
                </a:solidFill>
                <a:latin typeface="Calibri"/>
              </a:rPr>
              <a:t>Review &amp; Improve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WHAT WE ASK LEADERSHIP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600" b="1">
                <a:solidFill>
                  <a:srgbClr val="802020"/>
                </a:solidFill>
                <a:latin typeface="Calibri"/>
              </a:rPr>
              <a:t>Recommendations &amp;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&amp; Digital Engagement Workstream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09728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298448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Adopt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325880"/>
            <a:ext cx="8961120" cy="457200"/>
          </a:xfrm>
          <a:prstGeom prst="rect">
            <a:avLst/>
          </a:prstGeom>
          <a:noFill/>
        </p:spPr>
        <p:txBody>
          <a:bodyPr wrap="square" a:anchor="ctr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Approve this Operational Workstream as the implementation approach for these Conference objectives.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5740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258568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86000"/>
            <a:ext cx="8961120" cy="457200"/>
          </a:xfrm>
          <a:prstGeom prst="rect">
            <a:avLst/>
          </a:prstGeom>
          <a:noFill/>
        </p:spPr>
        <p:txBody>
          <a:bodyPr wrap="square" a:anchor="ctr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Identify an Executive Sponsor and Operational Lead within 90 days.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18688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501418"/>
                </a:solidFill>
                <a:latin typeface="Calibri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46120"/>
            <a:ext cx="8961120" cy="457200"/>
          </a:xfrm>
          <a:prstGeom prst="rect">
            <a:avLst/>
          </a:prstGeom>
          <a:noFill/>
        </p:spPr>
        <p:txBody>
          <a:bodyPr wrap="square" a:anchor="ctr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Develop a shared annual communications plan with participating ministries.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776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178808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501418"/>
                </a:solidFill>
                <a:latin typeface="Calibri"/>
              </a:rP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206240"/>
            <a:ext cx="8961120" cy="457200"/>
          </a:xfrm>
          <a:prstGeom prst="rect">
            <a:avLst/>
          </a:prstGeom>
          <a:noFill/>
        </p:spPr>
        <p:txBody>
          <a:bodyPr wrap="square" a:anchor="ctr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Track a short metric set and review progress quarterly.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138928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501418"/>
                </a:solidFill>
                <a:latin typeface="Calibri"/>
              </a:rPr>
              <a:t>Celebrate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166360"/>
            <a:ext cx="8961120" cy="457200"/>
          </a:xfrm>
          <a:prstGeom prst="rect">
            <a:avLst/>
          </a:prstGeom>
          <a:noFill/>
        </p:spPr>
        <p:txBody>
          <a:bodyPr wrap="square" a:anchor="ctr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Publicly affirm ministry wins enabled by better coordination.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521097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600" b="1">
                <a:solidFill>
                  <a:srgbClr val="A08020"/>
                </a:solidFill>
                <a:latin typeface="Georgia"/>
              </a:rPr>
              <a:t>"Strong vision deserves faithful execution."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789920" cy="1463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The Leadership Conference provided the vision.
This workstream helps us execute it—with clearer collaboration,
stronger communication, and support for every existing ministry.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200" b="0">
                <a:solidFill>
                  <a:srgbClr val="C4A84A"/>
                </a:solidFill>
                <a:latin typeface="Calibri"/>
              </a:rPr>
              <a:t>Ebenezer Baptist Church  ·  Making disciples and serving our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