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Open: Endorsement is done. This kickoff stands up the operating rhythm.</a:t>
            </a:r>
          </a:p>
          <a:p>
            <a:r>
              <a:t>Lead with scarcity + AI consulting for goals, channels, drafts, AND assessment — not drafts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 2 is the key correction: AI is not only a writer — we consult it for goals, channels, drafts, and assessment.</a:t>
            </a:r>
          </a:p>
          <a:p>
            <a:r>
              <a:t>Banner explains the scarcity rationale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heart of the kickoff. AI is consulted three ways before/around weekly drafting:</a:t>
            </a:r>
          </a:p>
          <a:p>
            <a:r>
              <a:t>GOALS — set direction for 90 days (and refresh monthly).</a:t>
            </a:r>
          </a:p>
          <a:p>
            <a:r>
              <a:t>CHANNELS — choose where a small team can actually show up.</a:t>
            </a:r>
          </a:p>
          <a:p>
            <a:r>
              <a:t>ASSESS — weekly/monthly scorecard so we learn without a professional analyst.</a:t>
            </a:r>
          </a:p>
          <a:p>
            <a:r>
              <a:t>Always: AI proposes; Lead/Sponsor dispose; Pastor for sensitive.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the three consult modes into the operating loop.</a:t>
            </a:r>
          </a:p>
          <a:p>
            <a:r>
              <a:t>Discover = goals + channels for the week.</a:t>
            </a:r>
          </a:p>
          <a:p>
            <a:r>
              <a:t>Execute = drafts (what people already expect from AI).</a:t>
            </a:r>
          </a:p>
          <a:p>
            <a:r>
              <a:t>Evaluate = assess — closes the loop.</a:t>
            </a:r>
          </a:p>
          <a:p>
            <a:r>
              <a:t>Without Assess, AI only writes; with Assess, AI helps the team get smarter.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Advisor row must say goals/channels/drafts/assessment — not “writer” only.</a:t>
            </a:r>
          </a:p>
          <a:p>
            <a:r>
              <a:t>Lead’s job is to run the consult loop, not invent strategy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deliberately starts with Assess — so consulting AI for evaluation is habitual.</a:t>
            </a:r>
          </a:p>
          <a:p>
            <a:r>
              <a:t>Then goals/channels for this week, then drafts, then send.</a:t>
            </a:r>
          </a:p>
          <a:p>
            <a:r>
              <a:t>Gold on Assess to draw the eye.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AI involved in goals, channels, drafts, AND assess — with humans always deciding.</a:t>
            </a:r>
          </a:p>
          <a:p>
            <a:r>
              <a:t>Pastor row is the trust builder.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listed as a partner so leadership sees consulting is structural.</a:t>
            </a:r>
          </a:p>
          <a:p>
            <a:r>
              <a:t>Media vs Communications boundary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Month 1 explicitly consults AI for goals and channels before the rhythm hardens.</a:t>
            </a:r>
          </a:p>
          <a:p>
            <a:r>
              <a:t>Month 2 runs Discover→Execute→Evaluate.</a:t>
            </a:r>
          </a:p>
          <a:p>
            <a:r>
              <a:t>Month 3 uses assessment to keep/cut channels and refresh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Success includes consulting AI for goals/channels/assess — not only “we posted more.”</a:t>
            </a:r>
          </a:p>
          <a:p>
            <a:r>
              <a:t>Learning loop is the proof the scarcity model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Decisions 2 and 3 are the new explicit asks — AI goal session and AI channel session.</a:t>
            </a:r>
          </a:p>
          <a:p>
            <a:r>
              <a:t>Weekly meeting agenda always includes Assess.</a:t>
            </a:r>
          </a:p>
          <a:p>
            <a:r>
              <a:t>Leave with names and calendar 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b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597152" cy="960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468880"/>
            <a:ext cx="1005840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200" b="1">
                <a:solidFill>
                  <a:srgbClr val="A08020"/>
                </a:solidFill>
                <a:latin typeface="Calibri"/>
              </a:rPr>
              <a:t>STEP 2  ·  AFTER ENDORSEMENT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972800" cy="10058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Communications Kickoff
&amp; First 90 Days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114800"/>
            <a:ext cx="1371600" cy="3175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10515600" cy="9144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600" b="0">
                <a:solidFill>
                  <a:srgbClr val="C4A84A"/>
                </a:solidFill>
                <a:latin typeface="Calibri"/>
              </a:rPr>
              <a:t>Small team. Limited experience.
We consult AI to set goals, choose channels, draft, and assess.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05840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200" b="0">
                <a:solidFill>
                  <a:srgbClr val="D8D2CC"/>
                </a:solidFill>
                <a:latin typeface="Calibri"/>
              </a:rPr>
              <a:t>Ebenezer Baptist Church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b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836603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63240" y="182880"/>
            <a:ext cx="859536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000" b="1">
                <a:solidFill>
                  <a:srgbClr val="A08020"/>
                </a:solidFill>
                <a:latin typeface="Calibri"/>
              </a:rPr>
              <a:t>WHAT WE ARE STARTING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384048"/>
            <a:ext cx="8595360" cy="4114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2400" b="1">
                <a:solidFill>
                  <a:srgbClr val="802020"/>
                </a:solidFill>
                <a:latin typeface="Calibri"/>
              </a:rPr>
              <a:t>The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868680"/>
            <a:ext cx="1188720" cy="3810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1905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900" b="0">
                <a:solidFill>
                  <a:srgbClr val="5C5552"/>
                </a:solidFill>
                <a:latin typeface="Calibri"/>
              </a:rPr>
              <a:t>Communications Workstream — Kickoff &amp; First 90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37960"/>
            <a:ext cx="283464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r"/>
            <a:r>
              <a:rPr sz="900" b="0">
                <a:solidFill>
                  <a:srgbClr val="5C5552"/>
                </a:solidFill>
                <a:latin typeface="Calibri"/>
              </a:rPr>
              <a:t>Ebenezer Baptist Church  | 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27889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80160"/>
            <a:ext cx="2788920" cy="109728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3040" y="160020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06040"/>
            <a:ext cx="2423160" cy="4572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600" b="1">
                <a:solidFill>
                  <a:srgbClr val="802020"/>
                </a:solidFill>
                <a:latin typeface="Calibri"/>
              </a:rPr>
              <a:t>Tiny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54680"/>
            <a:ext cx="2423160" cy="10058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300" b="0">
                <a:solidFill>
                  <a:srgbClr val="5C5552"/>
                </a:solidFill>
                <a:latin typeface="Calibri"/>
              </a:rPr>
              <a:t>Lead + 1–2 helpers.
Not a department.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280160"/>
            <a:ext cx="27889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1280160"/>
            <a:ext cx="2788920" cy="109728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60020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606040"/>
            <a:ext cx="2423160" cy="4572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600" b="1">
                <a:solidFill>
                  <a:srgbClr val="802020"/>
                </a:solidFill>
                <a:latin typeface="Calibri"/>
              </a:rPr>
              <a:t>Consult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154680"/>
            <a:ext cx="2423160" cy="10058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300" b="0">
                <a:solidFill>
                  <a:srgbClr val="5C5552"/>
                </a:solidFill>
                <a:latin typeface="Calibri"/>
              </a:rPr>
              <a:t>Goals · Channels ·
Drafts · Assess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280160"/>
            <a:ext cx="27889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280160"/>
            <a:ext cx="2788920" cy="109728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0" y="160020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06040"/>
            <a:ext cx="2423160" cy="4572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600" b="1">
                <a:solidFill>
                  <a:srgbClr val="802020"/>
                </a:solidFill>
                <a:latin typeface="Calibri"/>
              </a:rPr>
              <a:t>Weekly rhythm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154680"/>
            <a:ext cx="2423160" cy="10058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300" b="0">
                <a:solidFill>
                  <a:srgbClr val="5C5552"/>
                </a:solidFill>
                <a:latin typeface="Calibri"/>
              </a:rPr>
              <a:t>Same short meeting.
Checklist every week.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1280160"/>
            <a:ext cx="27889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1280160"/>
            <a:ext cx="2788920" cy="109728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41280" y="160020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606040"/>
            <a:ext cx="2423160" cy="4572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600" b="1">
                <a:solidFill>
                  <a:srgbClr val="802020"/>
                </a:solidFill>
                <a:latin typeface="Calibri"/>
              </a:rPr>
              <a:t>People 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154680"/>
            <a:ext cx="2423160" cy="10058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300" b="0">
                <a:solidFill>
                  <a:srgbClr val="5C5552"/>
                </a:solidFill>
                <a:latin typeface="Calibri"/>
              </a:rPr>
              <a:t>Lead OKs ordinary.
Pastor if sensitive.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754880"/>
            <a:ext cx="11247120" cy="1280160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 w="15875">
            <a:solidFill>
              <a:srgbClr val="A0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 a:anchor="ctr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A08020"/>
                </a:solidFill>
                <a:latin typeface="Calibri"/>
              </a:rPr>
              <a:t>Why AI is heavy</a:t>
            </a:r>
          </a:p>
          <a:p>
            <a:pPr algn="ctr">
              <a:spcAft>
                <a:spcPts val="0"/>
              </a:spcAft>
            </a:pPr>
            <a:r>
              <a:rPr sz="1500" b="1">
                <a:solidFill>
                  <a:srgbClr val="802020"/>
                </a:solidFill>
                <a:latin typeface="Calibri"/>
              </a:rPr>
              <a:t>We don’t have professional communicators — so we consult AI like an expert advisor, then humans approve.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b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836603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63240" y="182880"/>
            <a:ext cx="859536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000" b="1">
                <a:solidFill>
                  <a:srgbClr val="A08020"/>
                </a:solidFill>
                <a:latin typeface="Calibri"/>
              </a:rPr>
              <a:t>GOALS · CHANNELS · ASSESS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384048"/>
            <a:ext cx="8595360" cy="4114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2400" b="1">
                <a:solidFill>
                  <a:srgbClr val="802020"/>
                </a:solidFill>
                <a:latin typeface="Calibri"/>
              </a:rPr>
              <a:t>Consult AI Like an Advisor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868680"/>
            <a:ext cx="1188720" cy="3810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1905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900" b="0">
                <a:solidFill>
                  <a:srgbClr val="5C5552"/>
                </a:solidFill>
                <a:latin typeface="Calibri"/>
              </a:rPr>
              <a:t>Communications Workstream — Kickoff &amp; First 90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37960"/>
            <a:ext cx="283464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r"/>
            <a:r>
              <a:rPr sz="900" b="0">
                <a:solidFill>
                  <a:srgbClr val="5C5552"/>
                </a:solidFill>
                <a:latin typeface="Calibri"/>
              </a:rPr>
              <a:t>Ebenezer Baptist Church  | 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43000"/>
            <a:ext cx="3749039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43000"/>
            <a:ext cx="3749039" cy="105156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34440"/>
            <a:ext cx="347472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800" b="1">
                <a:solidFill>
                  <a:srgbClr val="A08020"/>
                </a:solidFill>
                <a:latin typeface="Calibri"/>
              </a:rPr>
              <a:t>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645920"/>
            <a:ext cx="3474720" cy="4114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What are we trying to achieve?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377440"/>
            <a:ext cx="3383280" cy="438912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2A2A2A"/>
                </a:solidFill>
                <a:latin typeface="Calibri"/>
              </a:rPr>
              <a:t>Clarity for guests &amp; members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880360"/>
            <a:ext cx="3383280" cy="438912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2A2A2A"/>
                </a:solidFill>
                <a:latin typeface="Calibri"/>
              </a:rPr>
              <a:t>Fewer conflicting announcements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83280"/>
            <a:ext cx="3383280" cy="438912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2A2A2A"/>
                </a:solidFill>
                <a:latin typeface="Calibri"/>
              </a:rPr>
              <a:t>Pastor interrupted less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886200"/>
            <a:ext cx="3383280" cy="438912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2A2A2A"/>
                </a:solidFill>
                <a:latin typeface="Calibri"/>
              </a:rPr>
              <a:t>Consistent public presence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572000"/>
            <a:ext cx="3383280" cy="10972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200" b="1">
                <a:solidFill>
                  <a:srgbClr val="802020"/>
                </a:solidFill>
                <a:latin typeface="Calibri"/>
              </a:rPr>
              <a:t>Ask AI to propose 90-day goals.
Lead + Sponsor choose.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1143000"/>
            <a:ext cx="3749039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143000"/>
            <a:ext cx="3749039" cy="1051560"/>
          </a:xfrm>
          <a:prstGeom prst="rect">
            <a:avLst/>
          </a:prstGeom>
          <a:solidFill>
            <a:srgbClr val="5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1234440"/>
            <a:ext cx="347472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800" b="1">
                <a:solidFill>
                  <a:srgbClr val="A08020"/>
                </a:solidFill>
                <a:latin typeface="Calibri"/>
              </a:rPr>
              <a:t>CHANNELS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1645920"/>
            <a:ext cx="3474720" cy="4114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Where should we show up?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2377440"/>
            <a:ext cx="3383280" cy="438912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2A2A2A"/>
                </a:solidFill>
                <a:latin typeface="Calibri"/>
              </a:rPr>
              <a:t>Bulletin / in-service cues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2880360"/>
            <a:ext cx="3383280" cy="438912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2A2A2A"/>
                </a:solidFill>
                <a:latin typeface="Calibri"/>
              </a:rPr>
              <a:t>Website &amp; email notes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383280"/>
            <a:ext cx="3383280" cy="438912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2A2A2A"/>
                </a:solidFill>
                <a:latin typeface="Calibri"/>
              </a:rPr>
              <a:t>Facebook / YouTube messaging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886200"/>
            <a:ext cx="3383280" cy="438912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2A2A2A"/>
                </a:solidFill>
                <a:latin typeface="Calibri"/>
              </a:rPr>
              <a:t>What to pause or skip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572000"/>
            <a:ext cx="3383280" cy="10972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200" b="1">
                <a:solidFill>
                  <a:srgbClr val="802020"/>
                </a:solidFill>
                <a:latin typeface="Calibri"/>
              </a:rPr>
              <a:t>Ask AI which channels fit
our capacity — not every platform.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1143000"/>
            <a:ext cx="3749039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80" y="1143000"/>
            <a:ext cx="3749039" cy="105156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234440"/>
            <a:ext cx="347472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800" b="1">
                <a:solidFill>
                  <a:srgbClr val="A08020"/>
                </a:solidFill>
                <a:latin typeface="Calibri"/>
              </a:rPr>
              <a:t>ASSESS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1645920"/>
            <a:ext cx="3474720" cy="4114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Did it work? What’s next?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66760" y="2377440"/>
            <a:ext cx="3383280" cy="438912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2A2A2A"/>
                </a:solidFill>
                <a:latin typeface="Calibri"/>
              </a:rPr>
              <a:t>What shipped on time?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2880360"/>
            <a:ext cx="3383280" cy="438912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2A2A2A"/>
                </a:solidFill>
                <a:latin typeface="Calibri"/>
              </a:rPr>
              <a:t>Where details conflicted?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66760" y="3383280"/>
            <a:ext cx="3383280" cy="438912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2A2A2A"/>
                </a:solidFill>
                <a:latin typeface="Calibri"/>
              </a:rPr>
              <a:t>Which channels were quiet?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66760" y="3886200"/>
            <a:ext cx="3383280" cy="438912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2A2A2A"/>
                </a:solidFill>
                <a:latin typeface="Calibri"/>
              </a:rPr>
              <a:t>What to prioritize next week?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572000"/>
            <a:ext cx="3383280" cy="10972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ctr"/>
            <a:r>
              <a:rPr sz="1200" b="1">
                <a:solidFill>
                  <a:srgbClr val="802020"/>
                </a:solidFill>
                <a:latin typeface="Calibri"/>
              </a:rPr>
              <a:t>Ask AI to score the week
and recommend next focus.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b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836603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63240" y="182880"/>
            <a:ext cx="859536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000" b="1">
                <a:solidFill>
                  <a:srgbClr val="A08020"/>
                </a:solidFill>
                <a:latin typeface="Calibri"/>
              </a:rPr>
              <a:t>DISCOVER → EXECUTE → EVALUATE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384048"/>
            <a:ext cx="8595360" cy="4114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2400" b="1">
                <a:solidFill>
                  <a:srgbClr val="802020"/>
                </a:solidFill>
                <a:latin typeface="Calibri"/>
              </a:rPr>
              <a:t>The Full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868680"/>
            <a:ext cx="1188720" cy="3810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1905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900" b="0">
                <a:solidFill>
                  <a:srgbClr val="5C5552"/>
                </a:solidFill>
                <a:latin typeface="Calibri"/>
              </a:rPr>
              <a:t>Communications Workstream — Kickoff &amp; First 90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37960"/>
            <a:ext cx="283464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r"/>
            <a:r>
              <a:rPr sz="900" b="0">
                <a:solidFill>
                  <a:srgbClr val="5C5552"/>
                </a:solidFill>
                <a:latin typeface="Calibri"/>
              </a:rPr>
              <a:t>Ebenezer Baptist Church  | 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3474720" cy="292608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 a:anchor="ctr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Discover</a:t>
            </a:r>
          </a:p>
          <a:p>
            <a:pPr algn="ctr">
              <a:spcAft>
                <a:spcPts val="1000"/>
              </a:spcAft>
            </a:pPr>
            <a:r>
              <a:rPr sz="1300" b="1">
                <a:solidFill>
                  <a:srgbClr val="A08020"/>
                </a:solidFill>
                <a:latin typeface="Calibri"/>
              </a:rPr>
              <a:t>Consult AI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What needs saying?
Which goals &amp; channels
this week?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0520" y="2651760"/>
            <a:ext cx="256032" cy="411480"/>
          </a:xfrm>
          <a:prstGeom prst="rightArrow">
            <a:avLst/>
          </a:prstGeom>
          <a:solidFill>
            <a:srgbClr val="A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463040"/>
            <a:ext cx="3474720" cy="2926080"/>
          </a:xfrm>
          <a:prstGeom prst="roundRect">
            <a:avLst>
              <a:gd name="adj" fmla="val 8000"/>
            </a:avLst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 a:anchor="ctr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501418"/>
                </a:solidFill>
                <a:latin typeface="Calibri"/>
              </a:rPr>
              <a:t>Execute</a:t>
            </a:r>
          </a:p>
          <a:p>
            <a:pPr algn="ctr">
              <a:spcAft>
                <a:spcPts val="1000"/>
              </a:spcAft>
            </a:pPr>
            <a:r>
              <a:rPr sz="1300" b="1">
                <a:solidFill>
                  <a:srgbClr val="802020"/>
                </a:solidFill>
                <a:latin typeface="Calibri"/>
              </a:rPr>
              <a:t>AI drafts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501418"/>
                </a:solidFill>
                <a:latin typeface="Calibri"/>
              </a:rPr>
              <a:t>One message package:
bulletin · web · social
· Media slide copy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55280" y="2651760"/>
            <a:ext cx="256032" cy="411480"/>
          </a:xfrm>
          <a:prstGeom prst="rightArrow">
            <a:avLst/>
          </a:prstGeom>
          <a:solidFill>
            <a:srgbClr val="8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474720" cy="292608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 a:anchor="ctr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Evaluate</a:t>
            </a:r>
          </a:p>
          <a:p>
            <a:pPr algn="ctr">
              <a:spcAft>
                <a:spcPts val="1000"/>
              </a:spcAft>
            </a:pPr>
            <a:r>
              <a:rPr sz="1300" b="1">
                <a:solidFill>
                  <a:srgbClr val="A08020"/>
                </a:solidFill>
                <a:latin typeface="Calibri"/>
              </a:rPr>
              <a:t>Assess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What worked?
What broke?
What next?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754880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 a: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802020"/>
                </a:solidFill>
                <a:latin typeface="Calibri"/>
              </a:rPr>
              <a:t>Evaluate feeds the next Discover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2A2A2A"/>
                </a:solidFill>
                <a:latin typeface="Calibri"/>
              </a:rPr>
              <a:t>Assessment is not a report for the shelf — it tells AI and the team what to prioritize next week.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b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836603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63240" y="182880"/>
            <a:ext cx="859536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000" b="1">
                <a:solidFill>
                  <a:srgbClr val="A08020"/>
                </a:solidFill>
                <a:latin typeface="Calibri"/>
              </a:rPr>
              <a:t>ROLES THAT FIT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384048"/>
            <a:ext cx="8595360" cy="4114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2400" b="1">
                <a:solidFill>
                  <a:srgbClr val="802020"/>
                </a:solidFill>
                <a:latin typeface="Calibri"/>
              </a:rPr>
              <a:t>The Tiny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868680"/>
            <a:ext cx="1188720" cy="3810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1905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900" b="0">
                <a:solidFill>
                  <a:srgbClr val="5C5552"/>
                </a:solidFill>
                <a:latin typeface="Calibri"/>
              </a:rPr>
              <a:t>Communications Workstream — Kickoff &amp; First 90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37960"/>
            <a:ext cx="283464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r"/>
            <a:r>
              <a:rPr sz="900" b="0">
                <a:solidFill>
                  <a:srgbClr val="5C5552"/>
                </a:solidFill>
                <a:latin typeface="Calibri"/>
              </a:rPr>
              <a:t>Ebenezer Baptist Church  | 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4300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371600"/>
            <a:ext cx="2377440" cy="59436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Executive Sponsor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325880"/>
            <a:ext cx="292608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400" b="1">
                <a:solidFill>
                  <a:srgbClr val="802020"/>
                </a:solidFill>
                <a:latin typeface="Calibri"/>
              </a:rPr>
              <a:t>Pastor (or designee)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645920"/>
            <a:ext cx="813816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5C5552"/>
                </a:solidFill>
                <a:latin typeface="Calibri"/>
              </a:rPr>
              <a:t>Air cover. Sensitive approvals. Affirms goals.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3172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560320"/>
            <a:ext cx="2377440" cy="59436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Operational 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514600"/>
            <a:ext cx="292608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400" b="1">
                <a:solidFill>
                  <a:srgbClr val="802020"/>
                </a:solidFill>
                <a:latin typeface="Calibri"/>
              </a:rPr>
              <a:t>Reliable organizer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834640"/>
            <a:ext cx="813816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5C5552"/>
                </a:solidFill>
                <a:latin typeface="Calibri"/>
              </a:rPr>
              <a:t>Runs the loop. Consults AI. Final ordinary OK.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2044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749040"/>
            <a:ext cx="2377440" cy="594360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802020"/>
                </a:solidFill>
                <a:latin typeface="Calibri"/>
              </a:rPr>
              <a:t>Helper(s)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703320"/>
            <a:ext cx="292608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400" b="1">
                <a:solidFill>
                  <a:srgbClr val="802020"/>
                </a:solidFill>
                <a:latin typeface="Calibri"/>
              </a:rPr>
              <a:t>1–2 volunteers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023360"/>
            <a:ext cx="813816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5C5552"/>
                </a:solidFill>
                <a:latin typeface="Calibri"/>
              </a:rPr>
              <a:t>Help gather inputs; post approved packages.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0916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937760"/>
            <a:ext cx="2377440" cy="594360"/>
          </a:xfrm>
          <a:prstGeom prst="roundRect">
            <a:avLst>
              <a:gd name="adj" fmla="val 8000"/>
            </a:avLst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AI Advisor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892040"/>
            <a:ext cx="292608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400" b="1">
                <a:solidFill>
                  <a:srgbClr val="802020"/>
                </a:solidFill>
                <a:latin typeface="Calibri"/>
              </a:rPr>
              <a:t>Expert teammate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212080"/>
            <a:ext cx="813816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5C5552"/>
                </a:solidFill>
                <a:latin typeface="Calibri"/>
              </a:rPr>
              <a:t>Goals · channels · drafts · weekly assessment.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b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836603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63240" y="182880"/>
            <a:ext cx="859536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000" b="1">
                <a:solidFill>
                  <a:srgbClr val="A08020"/>
                </a:solidFill>
                <a:latin typeface="Calibri"/>
              </a:rPr>
              <a:t>45 MINUTES, SAME EVERY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384048"/>
            <a:ext cx="8595360" cy="4114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2400" b="1">
                <a:solidFill>
                  <a:srgbClr val="802020"/>
                </a:solidFill>
                <a:latin typeface="Calibri"/>
              </a:rPr>
              <a:t>Weekly Meeting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868680"/>
            <a:ext cx="1188720" cy="3810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1905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900" b="0">
                <a:solidFill>
                  <a:srgbClr val="5C5552"/>
                </a:solidFill>
                <a:latin typeface="Calibri"/>
              </a:rPr>
              <a:t>Communications Workstream — Kickoff &amp; First 90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37960"/>
            <a:ext cx="283464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r"/>
            <a:r>
              <a:rPr sz="900" b="0">
                <a:solidFill>
                  <a:srgbClr val="5C5552"/>
                </a:solidFill>
                <a:latin typeface="Calibri"/>
              </a:rPr>
              <a:t>Ebenezer Baptist Church  | 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4300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371600"/>
            <a:ext cx="1371600" cy="594360"/>
          </a:xfrm>
          <a:prstGeom prst="roundRect">
            <a:avLst>
              <a:gd name="adj" fmla="val 8000"/>
            </a:avLst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300" b="1">
                <a:solidFill>
                  <a:srgbClr val="501418"/>
                </a:solidFill>
                <a:latin typeface="Calibri"/>
              </a:rPr>
              <a:t>10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325880"/>
            <a:ext cx="905256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600" b="1">
                <a:solidFill>
                  <a:srgbClr val="802020"/>
                </a:solidFill>
                <a:latin typeface="Calibri"/>
              </a:rPr>
              <a:t>Assess last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645920"/>
            <a:ext cx="905256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5C5552"/>
                </a:solidFill>
                <a:latin typeface="Calibri"/>
              </a:rPr>
              <a:t>Ask AI: what shipped, what conflicted, what’s quiet?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3172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560320"/>
            <a:ext cx="1371600" cy="59436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514600"/>
            <a:ext cx="905256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600" b="1">
                <a:solidFill>
                  <a:srgbClr val="802020"/>
                </a:solidFill>
                <a:latin typeface="Calibri"/>
              </a:rPr>
              <a:t>Goals &amp; channels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834640"/>
            <a:ext cx="905256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5C5552"/>
                </a:solidFill>
                <a:latin typeface="Calibri"/>
              </a:rPr>
              <a:t>Ask AI: what matters this week, where do we post?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2044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749040"/>
            <a:ext cx="1371600" cy="59436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703320"/>
            <a:ext cx="905256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600" b="1">
                <a:solidFill>
                  <a:srgbClr val="802020"/>
                </a:solidFill>
                <a:latin typeface="Calibri"/>
              </a:rPr>
              <a:t>Shape &amp; clear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023360"/>
            <a:ext cx="905256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5C5552"/>
                </a:solidFill>
                <a:latin typeface="Calibri"/>
              </a:rPr>
              <a:t>AI drafts package → team edits → Lead/Pastor 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0916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937760"/>
            <a:ext cx="1371600" cy="59436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892040"/>
            <a:ext cx="905256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600" b="1">
                <a:solidFill>
                  <a:srgbClr val="802020"/>
                </a:solidFill>
                <a:latin typeface="Calibri"/>
              </a:rPr>
              <a:t>Send &amp; assign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212080"/>
            <a:ext cx="905256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5C5552"/>
                </a:solidFill>
                <a:latin typeface="Calibri"/>
              </a:rPr>
              <a:t>Who posts what; Media gets slide copy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b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836603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63240" y="182880"/>
            <a:ext cx="859536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000" b="1">
                <a:solidFill>
                  <a:srgbClr val="A08020"/>
                </a:solidFill>
                <a:latin typeface="Calibri"/>
              </a:rPr>
              <a:t>AI NEVER HAS THE FINAL 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384048"/>
            <a:ext cx="8595360" cy="4114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2400" b="1">
                <a:solidFill>
                  <a:srgbClr val="802020"/>
                </a:solidFill>
                <a:latin typeface="Calibri"/>
              </a:rPr>
              <a:t>Who Approves What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868680"/>
            <a:ext cx="1188720" cy="3810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1905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900" b="0">
                <a:solidFill>
                  <a:srgbClr val="5C5552"/>
                </a:solidFill>
                <a:latin typeface="Calibri"/>
              </a:rPr>
              <a:t>Communications Workstream — Kickoff &amp; First 90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37960"/>
            <a:ext cx="283464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r"/>
            <a:r>
              <a:rPr sz="900" b="0">
                <a:solidFill>
                  <a:srgbClr val="5C5552"/>
                </a:solidFill>
                <a:latin typeface="Calibri"/>
              </a:rPr>
              <a:t>Ebenezer Baptist Church  | 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34440"/>
            <a:ext cx="320040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234440"/>
            <a:ext cx="365760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AI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234440"/>
            <a:ext cx="365760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Human role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691640"/>
            <a:ext cx="11247120" cy="777240"/>
          </a:xfrm>
          <a:prstGeom prst="rect">
            <a:avLst/>
          </a:prstGeom>
          <a:solidFill>
            <a:srgbClr val="F5F2F0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920240"/>
            <a:ext cx="320040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400" b="1">
                <a:solidFill>
                  <a:srgbClr val="802020"/>
                </a:solidFill>
                <a:latin typeface="Calibri"/>
              </a:rPr>
              <a:t>90-day goals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1920240"/>
            <a:ext cx="365760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Calibri"/>
              </a:rPr>
              <a:t>AI proposes options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920240"/>
            <a:ext cx="365760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1">
                <a:solidFill>
                  <a:srgbClr val="2A2A2A"/>
                </a:solidFill>
                <a:latin typeface="Calibri"/>
              </a:rPr>
              <a:t>Lead + Sponsor choose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1460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743200"/>
            <a:ext cx="320040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400" b="1">
                <a:solidFill>
                  <a:srgbClr val="802020"/>
                </a:solidFill>
                <a:latin typeface="Calibri"/>
              </a:rPr>
              <a:t>Channel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743200"/>
            <a:ext cx="365760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Calibri"/>
              </a:rPr>
              <a:t>AI recommends mix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743200"/>
            <a:ext cx="365760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1">
                <a:solidFill>
                  <a:srgbClr val="2A2A2A"/>
                </a:solidFill>
                <a:latin typeface="Calibri"/>
              </a:rPr>
              <a:t>Lead confirms (capacity)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337560"/>
            <a:ext cx="11247120" cy="777240"/>
          </a:xfrm>
          <a:prstGeom prst="rect">
            <a:avLst/>
          </a:prstGeom>
          <a:solidFill>
            <a:srgbClr val="F5F2F0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566160"/>
            <a:ext cx="320040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400" b="1">
                <a:solidFill>
                  <a:srgbClr val="802020"/>
                </a:solidFill>
                <a:latin typeface="Calibri"/>
              </a:rPr>
              <a:t>Weekly package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566160"/>
            <a:ext cx="365760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Calibri"/>
              </a:rPr>
              <a:t>AI drafts copy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566160"/>
            <a:ext cx="365760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1">
                <a:solidFill>
                  <a:srgbClr val="2A2A2A"/>
                </a:solidFill>
                <a:latin typeface="Calibri"/>
              </a:rPr>
              <a:t>Lead OKs ordinary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16052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89120"/>
            <a:ext cx="320040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400" b="1">
                <a:solidFill>
                  <a:srgbClr val="802020"/>
                </a:solidFill>
                <a:latin typeface="Calibri"/>
              </a:rPr>
              <a:t>Sensitive items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4389120"/>
            <a:ext cx="365760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Calibri"/>
              </a:rPr>
              <a:t>AI may draft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0"/>
            <a:ext cx="365760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1">
                <a:solidFill>
                  <a:srgbClr val="2A2A2A"/>
                </a:solidFill>
                <a:latin typeface="Calibri"/>
              </a:rPr>
              <a:t>Pastor must approve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83480"/>
            <a:ext cx="11247120" cy="777240"/>
          </a:xfrm>
          <a:prstGeom prst="rect">
            <a:avLst/>
          </a:prstGeom>
          <a:solidFill>
            <a:srgbClr val="F5F2F0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212080"/>
            <a:ext cx="320040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400" b="1">
                <a:solidFill>
                  <a:srgbClr val="802020"/>
                </a:solidFill>
                <a:latin typeface="Calibri"/>
              </a:rPr>
              <a:t>Weekly assess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5212080"/>
            <a:ext cx="365760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Calibri"/>
              </a:rPr>
              <a:t>AI scores &amp; suggests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5212080"/>
            <a:ext cx="365760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1">
                <a:solidFill>
                  <a:srgbClr val="2A2A2A"/>
                </a:solidFill>
                <a:latin typeface="Calibri"/>
              </a:rPr>
              <a:t>Lead decides next focus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b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836603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63240" y="182880"/>
            <a:ext cx="859536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000" b="1">
                <a:solidFill>
                  <a:srgbClr val="A08020"/>
                </a:solidFill>
                <a:latin typeface="Calibri"/>
              </a:rPr>
              <a:t>SUBMIT — DON’T FREELANCE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384048"/>
            <a:ext cx="8595360" cy="4114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2400" b="1">
                <a:solidFill>
                  <a:srgbClr val="802020"/>
                </a:solidFill>
                <a:latin typeface="Calibri"/>
              </a:rPr>
              <a:t>How Partners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868680"/>
            <a:ext cx="1188720" cy="3810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1905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900" b="0">
                <a:solidFill>
                  <a:srgbClr val="5C5552"/>
                </a:solidFill>
                <a:latin typeface="Calibri"/>
              </a:rPr>
              <a:t>Communications Workstream — Kickoff &amp; First 90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37960"/>
            <a:ext cx="283464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r"/>
            <a:r>
              <a:rPr sz="900" b="0">
                <a:solidFill>
                  <a:srgbClr val="5C5552"/>
                </a:solidFill>
                <a:latin typeface="Calibri"/>
              </a:rPr>
              <a:t>Ebenezer Baptist Church  | 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5623560" cy="50292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44168"/>
            <a:ext cx="516636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Ministries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011680"/>
            <a:ext cx="5074920" cy="10058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Send requests by the deadline.
One version. No surprise Sunday asks.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23444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234440"/>
            <a:ext cx="5623560" cy="502920"/>
          </a:xfrm>
          <a:prstGeom prst="rect">
            <a:avLst/>
          </a:prstGeom>
          <a:solidFill>
            <a:srgbClr val="5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344168"/>
            <a:ext cx="516636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Church 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011680"/>
            <a:ext cx="5074920" cy="10058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Partner on publishing.
Not the only writer for everything.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2044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20440"/>
            <a:ext cx="5623560" cy="50292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30168"/>
            <a:ext cx="516636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Media Ministry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5074920" cy="10058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Owns AV: sound, stream, slides.
Communications brings the words.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52044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520440"/>
            <a:ext cx="5623560" cy="50292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630168"/>
            <a:ext cx="516636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600" b="1">
                <a:solidFill>
                  <a:srgbClr val="501418"/>
                </a:solidFill>
                <a:latin typeface="Calibri"/>
              </a:rPr>
              <a:t>AI Advisor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297680"/>
            <a:ext cx="5074920" cy="10058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Consulted on goals, channels,
drafts, and weekly assessment.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b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836603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63240" y="182880"/>
            <a:ext cx="859536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000" b="1">
                <a:solidFill>
                  <a:srgbClr val="A08020"/>
                </a:solidFill>
                <a:latin typeface="Calibri"/>
              </a:rPr>
              <a:t>GOALS → RHYTHM → ASSESS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384048"/>
            <a:ext cx="8595360" cy="4114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2400" b="1">
                <a:solidFill>
                  <a:srgbClr val="802020"/>
                </a:solidFill>
                <a:latin typeface="Calibri"/>
              </a:rPr>
              <a:t>First 90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868680"/>
            <a:ext cx="1188720" cy="3810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1905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900" b="0">
                <a:solidFill>
                  <a:srgbClr val="5C5552"/>
                </a:solidFill>
                <a:latin typeface="Calibri"/>
              </a:rPr>
              <a:t>Communications Workstream — Kickoff &amp; First 90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37960"/>
            <a:ext cx="283464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r"/>
            <a:r>
              <a:rPr sz="900" b="0">
                <a:solidFill>
                  <a:srgbClr val="5C5552"/>
                </a:solidFill>
                <a:latin typeface="Calibri"/>
              </a:rPr>
              <a:t>Ebenezer Baptist Church  |  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63240"/>
            <a:ext cx="10881360" cy="5080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65960" y="2880360"/>
            <a:ext cx="411480" cy="411480"/>
          </a:xfrm>
          <a:prstGeom prst="ellipse">
            <a:avLst/>
          </a:prstGeom>
          <a:solidFill>
            <a:srgbClr val="8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14300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 a: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A08020"/>
                </a:solidFill>
                <a:latin typeface="Calibri"/>
              </a:rPr>
              <a:t>Days 1–30</a:t>
            </a:r>
          </a:p>
          <a:p>
            <a:pPr algn="ctr">
              <a:spcAft>
                <a:spcPts val="0"/>
              </a:spcAft>
            </a:pPr>
            <a:r>
              <a:rPr sz="1700" b="1">
                <a:solidFill>
                  <a:srgbClr val="802020"/>
                </a:solidFill>
                <a:latin typeface="Calibri"/>
              </a:rPr>
              <a:t>Set direction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3520440" cy="438912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2A2A2A"/>
                </a:solidFill>
                <a:latin typeface="Calibri"/>
              </a:rPr>
              <a:t>Name Lead + helpers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69080"/>
            <a:ext cx="3520440" cy="438912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2A2A2A"/>
                </a:solidFill>
                <a:latin typeface="Calibri"/>
              </a:rPr>
              <a:t>Consult AI on 90-day goals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72000"/>
            <a:ext cx="3520440" cy="438912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2A2A2A"/>
                </a:solidFill>
                <a:latin typeface="Calibri"/>
              </a:rPr>
              <a:t>Consult AI on channel mix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74920"/>
            <a:ext cx="3520440" cy="438912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2A2A2A"/>
                </a:solidFill>
                <a:latin typeface="Calibri"/>
              </a:rPr>
              <a:t>Lock weekly meeting</a:t>
            </a:r>
          </a:p>
        </p:txBody>
      </p:sp>
      <p:sp>
        <p:nvSpPr>
          <p:cNvPr id="17" name="Oval 16"/>
          <p:cNvSpPr/>
          <p:nvPr/>
        </p:nvSpPr>
        <p:spPr>
          <a:xfrm>
            <a:off x="5714999" y="2880360"/>
            <a:ext cx="411480" cy="411480"/>
          </a:xfrm>
          <a:prstGeom prst="ellipse">
            <a:avLst/>
          </a:prstGeom>
          <a:solidFill>
            <a:srgbClr val="8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19" y="114300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 a: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A08020"/>
                </a:solidFill>
                <a:latin typeface="Calibri"/>
              </a:rPr>
              <a:t>Days 31–60</a:t>
            </a:r>
          </a:p>
          <a:p>
            <a:pPr algn="ctr">
              <a:spcAft>
                <a:spcPts val="0"/>
              </a:spcAft>
            </a:pPr>
            <a:r>
              <a:rPr sz="1700" b="1">
                <a:solidFill>
                  <a:srgbClr val="802020"/>
                </a:solidFill>
                <a:latin typeface="Calibri"/>
              </a:rPr>
              <a:t>Run the loop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19" y="3566160"/>
            <a:ext cx="3520440" cy="438912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2A2A2A"/>
                </a:solidFill>
                <a:latin typeface="Calibri"/>
              </a:rPr>
              <a:t>Discover → Execute weekly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19" y="4069080"/>
            <a:ext cx="3520440" cy="438912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2A2A2A"/>
                </a:solidFill>
                <a:latin typeface="Calibri"/>
              </a:rPr>
              <a:t>Assess every meeting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19" y="4572000"/>
            <a:ext cx="3520440" cy="438912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2A2A2A"/>
                </a:solidFill>
                <a:latin typeface="Calibri"/>
              </a:rPr>
              <a:t>Same details everywhere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19" y="5074920"/>
            <a:ext cx="3520440" cy="438912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2A2A2A"/>
                </a:solidFill>
                <a:latin typeface="Calibri"/>
              </a:rPr>
              <a:t>Pastor only when needed</a:t>
            </a:r>
          </a:p>
        </p:txBody>
      </p:sp>
      <p:sp>
        <p:nvSpPr>
          <p:cNvPr id="23" name="Oval 22"/>
          <p:cNvSpPr/>
          <p:nvPr/>
        </p:nvSpPr>
        <p:spPr>
          <a:xfrm>
            <a:off x="9464038" y="2880360"/>
            <a:ext cx="411480" cy="411480"/>
          </a:xfrm>
          <a:prstGeom prst="ellipse">
            <a:avLst/>
          </a:prstGeom>
          <a:solidFill>
            <a:srgbClr val="8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58" y="114300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 a: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A08020"/>
                </a:solidFill>
                <a:latin typeface="Calibri"/>
              </a:rPr>
              <a:t>Days 61–90</a:t>
            </a:r>
          </a:p>
          <a:p>
            <a:pPr algn="ctr">
              <a:spcAft>
                <a:spcPts val="0"/>
              </a:spcAft>
            </a:pPr>
            <a:r>
              <a:rPr sz="1700" b="1">
                <a:solidFill>
                  <a:srgbClr val="802020"/>
                </a:solidFill>
                <a:latin typeface="Calibri"/>
              </a:rPr>
              <a:t>Prove &amp; adjust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8" y="3566160"/>
            <a:ext cx="3520440" cy="438912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2A2A2A"/>
                </a:solidFill>
                <a:latin typeface="Calibri"/>
              </a:rPr>
              <a:t>AI-assisted scorecard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58" y="4069080"/>
            <a:ext cx="3520440" cy="438912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2A2A2A"/>
                </a:solidFill>
                <a:latin typeface="Calibri"/>
              </a:rPr>
              <a:t>Keep / cut channels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8" y="4572000"/>
            <a:ext cx="3520440" cy="438912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2A2A2A"/>
                </a:solidFill>
                <a:latin typeface="Calibri"/>
              </a:rPr>
              <a:t>Refresh goals if needed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8" y="5074920"/>
            <a:ext cx="3520440" cy="438912"/>
          </a:xfrm>
          <a:prstGeom prst="roundRect">
            <a:avLst>
              <a:gd name="adj" fmla="val 8000"/>
            </a:avLst>
          </a:prstGeom>
          <a:solidFill>
            <a:srgbClr val="F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200" b="1">
                <a:solidFill>
                  <a:srgbClr val="2A2A2A"/>
                </a:solidFill>
                <a:latin typeface="Calibri"/>
              </a:rPr>
              <a:t>Report to Sponsor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b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836603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63240" y="182880"/>
            <a:ext cx="859536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000" b="1">
                <a:solidFill>
                  <a:srgbClr val="A08020"/>
                </a:solidFill>
                <a:latin typeface="Calibri"/>
              </a:rPr>
              <a:t>DIRECTION + RHYTHM +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384048"/>
            <a:ext cx="8595360" cy="4114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2400" b="1">
                <a:solidFill>
                  <a:srgbClr val="802020"/>
                </a:solidFill>
                <a:latin typeface="Calibri"/>
              </a:rPr>
              <a:t>Success at Day 90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868680"/>
            <a:ext cx="1188720" cy="3810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1905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900" b="0">
                <a:solidFill>
                  <a:srgbClr val="5C5552"/>
                </a:solidFill>
                <a:latin typeface="Calibri"/>
              </a:rPr>
              <a:t>Communications Workstream — Kickoff &amp; First 90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37960"/>
            <a:ext cx="283464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r"/>
            <a:r>
              <a:rPr sz="900" b="0">
                <a:solidFill>
                  <a:srgbClr val="5C5552"/>
                </a:solidFill>
                <a:latin typeface="Calibri"/>
              </a:rPr>
              <a:t>Ebenezer Baptist Church  | 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43000"/>
            <a:ext cx="5623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43000"/>
            <a:ext cx="63500" cy="137160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371600"/>
            <a:ext cx="512064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400" b="1">
                <a:solidFill>
                  <a:srgbClr val="802020"/>
                </a:solidFill>
                <a:latin typeface="Calibri"/>
              </a:rPr>
              <a:t>Goals chosen with AI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28800"/>
            <a:ext cx="5120640" cy="4572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5C5552"/>
                </a:solidFill>
                <a:latin typeface="Calibri"/>
              </a:rPr>
              <a:t>Written 90-day goals the Sponsor affirmed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143000"/>
            <a:ext cx="5623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143000"/>
            <a:ext cx="63500" cy="137160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371600"/>
            <a:ext cx="512064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400" b="1">
                <a:solidFill>
                  <a:srgbClr val="802020"/>
                </a:solidFill>
                <a:latin typeface="Calibri"/>
              </a:rPr>
              <a:t>Channels match capacity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828800"/>
            <a:ext cx="5120640" cy="4572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5C5552"/>
                </a:solidFill>
                <a:latin typeface="Calibri"/>
              </a:rPr>
              <a:t>We show up where we can — not everywhere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97480"/>
            <a:ext cx="5623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697480"/>
            <a:ext cx="63500" cy="137160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926080"/>
            <a:ext cx="512064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400" b="1">
                <a:solidFill>
                  <a:srgbClr val="802020"/>
                </a:solidFill>
                <a:latin typeface="Calibri"/>
              </a:rPr>
              <a:t>Weekly assess habit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5120640" cy="4572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5C5552"/>
                </a:solidFill>
                <a:latin typeface="Calibri"/>
              </a:rPr>
              <a:t>Every meeting starts with last week’s score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697480"/>
            <a:ext cx="5623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697480"/>
            <a:ext cx="63500" cy="137160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926080"/>
            <a:ext cx="512064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400" b="1">
                <a:solidFill>
                  <a:srgbClr val="802020"/>
                </a:solidFill>
                <a:latin typeface="Calibri"/>
              </a:rPr>
              <a:t>Fewer conflicting announcements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383280"/>
            <a:ext cx="5120640" cy="4572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5C5552"/>
                </a:solidFill>
                <a:latin typeface="Calibri"/>
              </a:rPr>
              <a:t>Same details across pulpit, bulletin, web, social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251960"/>
            <a:ext cx="5623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251960"/>
            <a:ext cx="63500" cy="137160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480560"/>
            <a:ext cx="512064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400" b="1">
                <a:solidFill>
                  <a:srgbClr val="802020"/>
                </a:solidFill>
                <a:latin typeface="Calibri"/>
              </a:rPr>
              <a:t>Pastor interrupted less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937760"/>
            <a:ext cx="5120640" cy="4572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5C5552"/>
                </a:solidFill>
                <a:latin typeface="Calibri"/>
              </a:rPr>
              <a:t>Requests hit the deadline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251960"/>
            <a:ext cx="5623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251960"/>
            <a:ext cx="63500" cy="137160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480560"/>
            <a:ext cx="5120640" cy="36576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400" b="1">
                <a:solidFill>
                  <a:srgbClr val="802020"/>
                </a:solidFill>
                <a:latin typeface="Calibri"/>
              </a:rPr>
              <a:t>Team not drowning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937760"/>
            <a:ext cx="5120640" cy="4572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5C5552"/>
                </a:solidFill>
                <a:latin typeface="Calibri"/>
              </a:rPr>
              <a:t>AI consulted; checklist holds; humans still decide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b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836603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63240" y="182880"/>
            <a:ext cx="859536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000" b="1">
                <a:solidFill>
                  <a:srgbClr val="A08020"/>
                </a:solidFill>
                <a:latin typeface="Calibri"/>
              </a:rPr>
              <a:t>LOCK THE FIRST 90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384048"/>
            <a:ext cx="8595360" cy="41148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2400" b="1">
                <a:solidFill>
                  <a:srgbClr val="802020"/>
                </a:solidFill>
                <a:latin typeface="Calibri"/>
              </a:rPr>
              <a:t>Decisions Needed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868680"/>
            <a:ext cx="1188720" cy="38100"/>
          </a:xfrm>
          <a:prstGeom prst="rect">
            <a:avLst/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473952"/>
            <a:ext cx="11365992" cy="19050"/>
          </a:xfrm>
          <a:prstGeom prst="rect">
            <a:avLst/>
          </a:prstGeom>
          <a:solidFill>
            <a:srgbClr val="A0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37960"/>
            <a:ext cx="841248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900" b="0">
                <a:solidFill>
                  <a:srgbClr val="5C5552"/>
                </a:solidFill>
                <a:latin typeface="Calibri"/>
              </a:rPr>
              <a:t>Communications Workstream — Kickoff &amp; First 90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37960"/>
            <a:ext cx="2834640" cy="22860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r"/>
            <a:r>
              <a:rPr sz="900" b="0">
                <a:solidFill>
                  <a:srgbClr val="5C5552"/>
                </a:solidFill>
                <a:latin typeface="Calibri"/>
              </a:rPr>
              <a:t>Ebenezer Baptist Church  | 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09728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280160"/>
            <a:ext cx="640080" cy="50292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234440"/>
            <a:ext cx="987552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600" b="1">
                <a:solidFill>
                  <a:srgbClr val="802020"/>
                </a:solidFill>
                <a:latin typeface="Calibri"/>
              </a:rPr>
              <a:t>Name Lead + 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554480"/>
            <a:ext cx="987552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5C5552"/>
                </a:solidFill>
                <a:latin typeface="Calibri"/>
              </a:rPr>
              <a:t>Reliable organizers — résumés optional.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05740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240280"/>
            <a:ext cx="640080" cy="50292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194560"/>
            <a:ext cx="987552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600" b="1">
                <a:solidFill>
                  <a:srgbClr val="802020"/>
                </a:solidFill>
                <a:latin typeface="Calibri"/>
              </a:rPr>
              <a:t>Schedule AI goal 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514600"/>
            <a:ext cx="987552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5C5552"/>
                </a:solidFill>
                <a:latin typeface="Calibri"/>
              </a:rPr>
              <a:t>Consult AI on 90-day goals; Sponsor affirms.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1752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200400"/>
            <a:ext cx="640080" cy="50292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154680"/>
            <a:ext cx="987552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600" b="1">
                <a:solidFill>
                  <a:srgbClr val="802020"/>
                </a:solidFill>
                <a:latin typeface="Calibri"/>
              </a:rPr>
              <a:t>Schedule AI channel session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474720"/>
            <a:ext cx="987552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5C5552"/>
                </a:solidFill>
                <a:latin typeface="Calibri"/>
              </a:rPr>
              <a:t>Choose where we will (and won’t) show up.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7764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160520"/>
            <a:ext cx="640080" cy="50292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114800"/>
            <a:ext cx="987552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600" b="1">
                <a:solidFill>
                  <a:srgbClr val="802020"/>
                </a:solidFill>
                <a:latin typeface="Calibri"/>
              </a:rPr>
              <a:t>Set weekly loop meeting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434840"/>
            <a:ext cx="987552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5C5552"/>
                </a:solidFill>
                <a:latin typeface="Calibri"/>
              </a:rPr>
              <a:t>Assess → Goals/Channels → Draft → Send.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93776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5120640"/>
            <a:ext cx="640080" cy="502920"/>
          </a:xfrm>
          <a:prstGeom prst="roundRect">
            <a:avLst>
              <a:gd name="adj" fmla="val 8000"/>
            </a:avLst>
          </a:prstGeom>
          <a:solidFill>
            <a:srgbClr val="8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 a: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074920"/>
            <a:ext cx="987552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600" b="1">
                <a:solidFill>
                  <a:srgbClr val="802020"/>
                </a:solidFill>
                <a:latin typeface="Calibri"/>
              </a:rPr>
              <a:t>Confirm approval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394960"/>
            <a:ext cx="9875520" cy="320040"/>
          </a:xfrm>
          <a:prstGeom prst="rect">
            <a:avLst/>
          </a:prstGeom>
          <a:noFill/>
        </p:spPr>
        <p:txBody>
          <a:bodyPr wrap="square" a:anchor="t">
            <a:spAutoFit/>
          </a:bodyPr>
          <a:lstStyle/>
          <a:p>
            <a:pPr algn="l"/>
            <a:r>
              <a:rPr sz="1300" b="0">
                <a:solidFill>
                  <a:srgbClr val="5C5552"/>
                </a:solidFill>
                <a:latin typeface="Calibri"/>
              </a:rPr>
              <a:t>Lead ordinary · Pastor sensitive · AI never final.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