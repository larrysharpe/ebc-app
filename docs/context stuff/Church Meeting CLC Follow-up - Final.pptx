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8" r:id="rId2"/>
    <p:sldId id="301" r:id="rId3"/>
    <p:sldId id="325" r:id="rId4"/>
    <p:sldId id="307" r:id="rId5"/>
    <p:sldId id="323" r:id="rId6"/>
    <p:sldId id="305" r:id="rId7"/>
    <p:sldId id="293" r:id="rId8"/>
    <p:sldId id="309" r:id="rId9"/>
    <p:sldId id="310" r:id="rId10"/>
    <p:sldId id="311" r:id="rId11"/>
    <p:sldId id="313" r:id="rId12"/>
    <p:sldId id="315" r:id="rId13"/>
    <p:sldId id="317" r:id="rId14"/>
    <p:sldId id="320" r:id="rId15"/>
    <p:sldId id="306" r:id="rId16"/>
    <p:sldId id="326" r:id="rId17"/>
    <p:sldId id="327" r:id="rId18"/>
    <p:sldId id="328" r:id="rId19"/>
    <p:sldId id="329" r:id="rId20"/>
    <p:sldId id="330" r:id="rId21"/>
    <p:sldId id="331" r:id="rId22"/>
    <p:sldId id="321" r:id="rId23"/>
    <p:sldId id="324" r:id="rId24"/>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13E35"/>
    <a:srgbClr val="634C41"/>
    <a:srgbClr val="624B40"/>
    <a:srgbClr val="3F3029"/>
    <a:srgbClr val="333333"/>
    <a:srgbClr val="000000"/>
    <a:srgbClr val="005828"/>
    <a:srgbClr val="A5300F"/>
    <a:srgbClr val="004821"/>
    <a:srgbClr val="76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4667" autoAdjust="0"/>
  </p:normalViewPr>
  <p:slideViewPr>
    <p:cSldViewPr snapToGrid="0">
      <p:cViewPr varScale="1">
        <p:scale>
          <a:sx n="81" d="100"/>
          <a:sy n="81" d="100"/>
        </p:scale>
        <p:origin x="706" y="48"/>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4022725" y="0"/>
            <a:ext cx="3078163" cy="469900"/>
          </a:xfrm>
          <a:prstGeom prst="rect">
            <a:avLst/>
          </a:prstGeom>
        </p:spPr>
        <p:txBody>
          <a:bodyPr vert="horz" lIns="91440" tIns="45720" rIns="91440" bIns="45720" rtlCol="0"/>
          <a:lstStyle>
            <a:lvl1pPr algn="r">
              <a:defRPr sz="1200"/>
            </a:lvl1pPr>
          </a:lstStyle>
          <a:p>
            <a:fld id="{2FB4DB02-629E-4F64-93E4-6198217AF14C}" type="datetimeFigureOut">
              <a:rPr lang="en-US" smtClean="0"/>
              <a:t>6/30/2026</a:t>
            </a:fld>
            <a:endParaRPr lang="en-US" dirty="0"/>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09613" y="4518025"/>
            <a:ext cx="5683250" cy="369728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918575"/>
            <a:ext cx="3078163" cy="4699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2725" y="8918575"/>
            <a:ext cx="3078163" cy="469900"/>
          </a:xfrm>
          <a:prstGeom prst="rect">
            <a:avLst/>
          </a:prstGeom>
        </p:spPr>
        <p:txBody>
          <a:bodyPr vert="horz" lIns="91440" tIns="45720" rIns="91440" bIns="45720" rtlCol="0" anchor="b"/>
          <a:lstStyle>
            <a:lvl1pPr algn="r">
              <a:defRPr sz="1200"/>
            </a:lvl1pPr>
          </a:lstStyle>
          <a:p>
            <a:fld id="{CFF5CED7-F6B5-4049-A83F-AE2299DBC24A}" type="slidenum">
              <a:rPr lang="en-US" smtClean="0"/>
              <a:t>‹#›</a:t>
            </a:fld>
            <a:endParaRPr lang="en-US" dirty="0"/>
          </a:p>
        </p:txBody>
      </p:sp>
    </p:spTree>
    <p:extLst>
      <p:ext uri="{BB962C8B-B14F-4D97-AF65-F5344CB8AC3E}">
        <p14:creationId xmlns:p14="http://schemas.microsoft.com/office/powerpoint/2010/main" val="3021923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F5CED7-F6B5-4049-A83F-AE2299DBC24A}" type="slidenum">
              <a:rPr lang="en-US" smtClean="0"/>
              <a:t>1</a:t>
            </a:fld>
            <a:endParaRPr lang="en-US"/>
          </a:p>
        </p:txBody>
      </p:sp>
    </p:spTree>
    <p:extLst>
      <p:ext uri="{BB962C8B-B14F-4D97-AF65-F5344CB8AC3E}">
        <p14:creationId xmlns:p14="http://schemas.microsoft.com/office/powerpoint/2010/main" val="3215842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F5CED7-F6B5-4049-A83F-AE2299DBC24A}" type="slidenum">
              <a:rPr lang="en-US" smtClean="0"/>
              <a:t>4</a:t>
            </a:fld>
            <a:endParaRPr lang="en-US"/>
          </a:p>
        </p:txBody>
      </p:sp>
    </p:spTree>
    <p:extLst>
      <p:ext uri="{BB962C8B-B14F-4D97-AF65-F5344CB8AC3E}">
        <p14:creationId xmlns:p14="http://schemas.microsoft.com/office/powerpoint/2010/main" val="3993108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F5CED7-F6B5-4049-A83F-AE2299DBC24A}" type="slidenum">
              <a:rPr lang="en-US" smtClean="0"/>
              <a:t>5</a:t>
            </a:fld>
            <a:endParaRPr lang="en-US"/>
          </a:p>
        </p:txBody>
      </p:sp>
    </p:spTree>
    <p:extLst>
      <p:ext uri="{BB962C8B-B14F-4D97-AF65-F5344CB8AC3E}">
        <p14:creationId xmlns:p14="http://schemas.microsoft.com/office/powerpoint/2010/main" val="1599906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F5CED7-F6B5-4049-A83F-AE2299DBC24A}" type="slidenum">
              <a:rPr lang="en-US" smtClean="0"/>
              <a:t>6</a:t>
            </a:fld>
            <a:endParaRPr lang="en-US"/>
          </a:p>
        </p:txBody>
      </p:sp>
    </p:spTree>
    <p:extLst>
      <p:ext uri="{BB962C8B-B14F-4D97-AF65-F5344CB8AC3E}">
        <p14:creationId xmlns:p14="http://schemas.microsoft.com/office/powerpoint/2010/main" val="9864947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F5CED7-F6B5-4049-A83F-AE2299DBC24A}" type="slidenum">
              <a:rPr lang="en-US" smtClean="0"/>
              <a:t>10</a:t>
            </a:fld>
            <a:endParaRPr lang="en-US"/>
          </a:p>
        </p:txBody>
      </p:sp>
    </p:spTree>
    <p:extLst>
      <p:ext uri="{BB962C8B-B14F-4D97-AF65-F5344CB8AC3E}">
        <p14:creationId xmlns:p14="http://schemas.microsoft.com/office/powerpoint/2010/main" val="681811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F5CED7-F6B5-4049-A83F-AE2299DBC24A}" type="slidenum">
              <a:rPr lang="en-US" smtClean="0"/>
              <a:t>11</a:t>
            </a:fld>
            <a:endParaRPr lang="en-US"/>
          </a:p>
        </p:txBody>
      </p:sp>
    </p:spTree>
    <p:extLst>
      <p:ext uri="{BB962C8B-B14F-4D97-AF65-F5344CB8AC3E}">
        <p14:creationId xmlns:p14="http://schemas.microsoft.com/office/powerpoint/2010/main" val="8405735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F5CED7-F6B5-4049-A83F-AE2299DBC24A}" type="slidenum">
              <a:rPr lang="en-US" smtClean="0"/>
              <a:t>12</a:t>
            </a:fld>
            <a:endParaRPr lang="en-US"/>
          </a:p>
        </p:txBody>
      </p:sp>
    </p:spTree>
    <p:extLst>
      <p:ext uri="{BB962C8B-B14F-4D97-AF65-F5344CB8AC3E}">
        <p14:creationId xmlns:p14="http://schemas.microsoft.com/office/powerpoint/2010/main" val="42066647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F5CED7-F6B5-4049-A83F-AE2299DBC24A}" type="slidenum">
              <a:rPr lang="en-US" smtClean="0"/>
              <a:t>13</a:t>
            </a:fld>
            <a:endParaRPr lang="en-US"/>
          </a:p>
        </p:txBody>
      </p:sp>
    </p:spTree>
    <p:extLst>
      <p:ext uri="{BB962C8B-B14F-4D97-AF65-F5344CB8AC3E}">
        <p14:creationId xmlns:p14="http://schemas.microsoft.com/office/powerpoint/2010/main" val="26753976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F5CED7-F6B5-4049-A83F-AE2299DBC24A}" type="slidenum">
              <a:rPr lang="en-US" smtClean="0"/>
              <a:t>14</a:t>
            </a:fld>
            <a:endParaRPr lang="en-US"/>
          </a:p>
        </p:txBody>
      </p:sp>
    </p:spTree>
    <p:extLst>
      <p:ext uri="{BB962C8B-B14F-4D97-AF65-F5344CB8AC3E}">
        <p14:creationId xmlns:p14="http://schemas.microsoft.com/office/powerpoint/2010/main" val="20754345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F5CED7-F6B5-4049-A83F-AE2299DBC24A}" type="slidenum">
              <a:rPr lang="en-US" smtClean="0"/>
              <a:t>15</a:t>
            </a:fld>
            <a:endParaRPr lang="en-US"/>
          </a:p>
        </p:txBody>
      </p:sp>
    </p:spTree>
    <p:extLst>
      <p:ext uri="{BB962C8B-B14F-4D97-AF65-F5344CB8AC3E}">
        <p14:creationId xmlns:p14="http://schemas.microsoft.com/office/powerpoint/2010/main" val="3512802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F5CED7-F6B5-4049-A83F-AE2299DBC24A}" type="slidenum">
              <a:rPr lang="en-US" smtClean="0"/>
              <a:t>16</a:t>
            </a:fld>
            <a:endParaRPr lang="en-US"/>
          </a:p>
        </p:txBody>
      </p:sp>
    </p:spTree>
    <p:extLst>
      <p:ext uri="{BB962C8B-B14F-4D97-AF65-F5344CB8AC3E}">
        <p14:creationId xmlns:p14="http://schemas.microsoft.com/office/powerpoint/2010/main" val="6421671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F5CED7-F6B5-4049-A83F-AE2299DBC24A}" type="slidenum">
              <a:rPr lang="en-US" smtClean="0"/>
              <a:t>17</a:t>
            </a:fld>
            <a:endParaRPr lang="en-US" dirty="0"/>
          </a:p>
        </p:txBody>
      </p:sp>
    </p:spTree>
    <p:extLst>
      <p:ext uri="{BB962C8B-B14F-4D97-AF65-F5344CB8AC3E}">
        <p14:creationId xmlns:p14="http://schemas.microsoft.com/office/powerpoint/2010/main" val="2163634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F5CED7-F6B5-4049-A83F-AE2299DBC24A}" type="slidenum">
              <a:rPr lang="en-US" smtClean="0"/>
              <a:t>18</a:t>
            </a:fld>
            <a:endParaRPr lang="en-US" dirty="0"/>
          </a:p>
        </p:txBody>
      </p:sp>
    </p:spTree>
    <p:extLst>
      <p:ext uri="{BB962C8B-B14F-4D97-AF65-F5344CB8AC3E}">
        <p14:creationId xmlns:p14="http://schemas.microsoft.com/office/powerpoint/2010/main" val="165214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F5CED7-F6B5-4049-A83F-AE2299DBC24A}" type="slidenum">
              <a:rPr lang="en-US" smtClean="0"/>
              <a:t>19</a:t>
            </a:fld>
            <a:endParaRPr lang="en-US" dirty="0"/>
          </a:p>
        </p:txBody>
      </p:sp>
    </p:spTree>
    <p:extLst>
      <p:ext uri="{BB962C8B-B14F-4D97-AF65-F5344CB8AC3E}">
        <p14:creationId xmlns:p14="http://schemas.microsoft.com/office/powerpoint/2010/main" val="1878783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F5CED7-F6B5-4049-A83F-AE2299DBC24A}" type="slidenum">
              <a:rPr lang="en-US" smtClean="0"/>
              <a:t>20</a:t>
            </a:fld>
            <a:endParaRPr lang="en-US" dirty="0"/>
          </a:p>
        </p:txBody>
      </p:sp>
    </p:spTree>
    <p:extLst>
      <p:ext uri="{BB962C8B-B14F-4D97-AF65-F5344CB8AC3E}">
        <p14:creationId xmlns:p14="http://schemas.microsoft.com/office/powerpoint/2010/main" val="38312154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F5CED7-F6B5-4049-A83F-AE2299DBC24A}" type="slidenum">
              <a:rPr lang="en-US" smtClean="0"/>
              <a:t>21</a:t>
            </a:fld>
            <a:endParaRPr lang="en-US" dirty="0"/>
          </a:p>
        </p:txBody>
      </p:sp>
    </p:spTree>
    <p:extLst>
      <p:ext uri="{BB962C8B-B14F-4D97-AF65-F5344CB8AC3E}">
        <p14:creationId xmlns:p14="http://schemas.microsoft.com/office/powerpoint/2010/main" val="36786001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F5CED7-F6B5-4049-A83F-AE2299DBC24A}" type="slidenum">
              <a:rPr lang="en-US" smtClean="0"/>
              <a:t>22</a:t>
            </a:fld>
            <a:endParaRPr lang="en-US" dirty="0"/>
          </a:p>
        </p:txBody>
      </p:sp>
    </p:spTree>
    <p:extLst>
      <p:ext uri="{BB962C8B-B14F-4D97-AF65-F5344CB8AC3E}">
        <p14:creationId xmlns:p14="http://schemas.microsoft.com/office/powerpoint/2010/main" val="52965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7D82561-CC70-46F7-BA5C-81909A5850B4}" type="datetimeFigureOut">
              <a:rPr lang="en-US" smtClean="0"/>
              <a:t>6/30/2026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3F41169-E495-47D4-99AA-A0B624857EFB}" type="slidenum">
              <a:rPr lang="en-US" smtClean="0"/>
              <a:t>‹#›</a:t>
            </a:fld>
            <a:endParaRPr lang="en-US" dirty="0"/>
          </a:p>
        </p:txBody>
      </p:sp>
    </p:spTree>
    <p:extLst>
      <p:ext uri="{BB962C8B-B14F-4D97-AF65-F5344CB8AC3E}">
        <p14:creationId xmlns:p14="http://schemas.microsoft.com/office/powerpoint/2010/main" val="690622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7D82561-CC70-46F7-BA5C-81909A5850B4}" type="datetimeFigureOut">
              <a:rPr lang="en-US" smtClean="0"/>
              <a:t>6/30/2026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3F41169-E495-47D4-99AA-A0B624857EFB}" type="slidenum">
              <a:rPr lang="en-US" smtClean="0"/>
              <a:t>‹#›</a:t>
            </a:fld>
            <a:endParaRPr lang="en-US" dirty="0"/>
          </a:p>
        </p:txBody>
      </p:sp>
    </p:spTree>
    <p:extLst>
      <p:ext uri="{BB962C8B-B14F-4D97-AF65-F5344CB8AC3E}">
        <p14:creationId xmlns:p14="http://schemas.microsoft.com/office/powerpoint/2010/main" val="2129850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7D82561-CC70-46F7-BA5C-81909A5850B4}" type="datetimeFigureOut">
              <a:rPr lang="en-US" smtClean="0"/>
              <a:t>6/30/2026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3F41169-E495-47D4-99AA-A0B624857EFB}" type="slidenum">
              <a:rPr lang="en-US" smtClean="0"/>
              <a:t>‹#›</a:t>
            </a:fld>
            <a:endParaRPr lang="en-US" dirty="0"/>
          </a:p>
        </p:txBody>
      </p:sp>
    </p:spTree>
    <p:extLst>
      <p:ext uri="{BB962C8B-B14F-4D97-AF65-F5344CB8AC3E}">
        <p14:creationId xmlns:p14="http://schemas.microsoft.com/office/powerpoint/2010/main" val="4750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7D82561-CC70-46F7-BA5C-81909A5850B4}" type="datetimeFigureOut">
              <a:rPr lang="en-US" smtClean="0"/>
              <a:t>6/30/2026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3F41169-E495-47D4-99AA-A0B624857EFB}" type="slidenum">
              <a:rPr lang="en-US" smtClean="0"/>
              <a:t>‹#›</a:t>
            </a:fld>
            <a:endParaRPr lang="en-US" dirty="0"/>
          </a:p>
        </p:txBody>
      </p:sp>
    </p:spTree>
    <p:extLst>
      <p:ext uri="{BB962C8B-B14F-4D97-AF65-F5344CB8AC3E}">
        <p14:creationId xmlns:p14="http://schemas.microsoft.com/office/powerpoint/2010/main" val="2284855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7D82561-CC70-46F7-BA5C-81909A5850B4}" type="datetimeFigureOut">
              <a:rPr lang="en-US" smtClean="0"/>
              <a:t>6/30/2026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3F41169-E495-47D4-99AA-A0B624857EFB}" type="slidenum">
              <a:rPr lang="en-US" smtClean="0"/>
              <a:t>‹#›</a:t>
            </a:fld>
            <a:endParaRPr lang="en-US" dirty="0"/>
          </a:p>
        </p:txBody>
      </p:sp>
    </p:spTree>
    <p:extLst>
      <p:ext uri="{BB962C8B-B14F-4D97-AF65-F5344CB8AC3E}">
        <p14:creationId xmlns:p14="http://schemas.microsoft.com/office/powerpoint/2010/main" val="609347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7D82561-CC70-46F7-BA5C-81909A5850B4}" type="datetimeFigureOut">
              <a:rPr lang="en-US" smtClean="0"/>
              <a:t>6/30/2026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3F41169-E495-47D4-99AA-A0B624857EFB}" type="slidenum">
              <a:rPr lang="en-US" smtClean="0"/>
              <a:t>‹#›</a:t>
            </a:fld>
            <a:endParaRPr lang="en-US" dirty="0"/>
          </a:p>
        </p:txBody>
      </p:sp>
    </p:spTree>
    <p:extLst>
      <p:ext uri="{BB962C8B-B14F-4D97-AF65-F5344CB8AC3E}">
        <p14:creationId xmlns:p14="http://schemas.microsoft.com/office/powerpoint/2010/main" val="1602999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D82561-CC70-46F7-BA5C-81909A5850B4}" type="datetimeFigureOut">
              <a:rPr lang="en-US" smtClean="0"/>
              <a:t>6/30/2026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3F41169-E495-47D4-99AA-A0B624857EFB}" type="slidenum">
              <a:rPr lang="en-US" smtClean="0"/>
              <a:t>‹#›</a:t>
            </a:fld>
            <a:endParaRPr lang="en-US" dirty="0"/>
          </a:p>
        </p:txBody>
      </p:sp>
    </p:spTree>
    <p:extLst>
      <p:ext uri="{BB962C8B-B14F-4D97-AF65-F5344CB8AC3E}">
        <p14:creationId xmlns:p14="http://schemas.microsoft.com/office/powerpoint/2010/main" val="7489783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7D82561-CC70-46F7-BA5C-81909A5850B4}" type="datetimeFigureOut">
              <a:rPr lang="en-US" smtClean="0"/>
              <a:t>6/30/2026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3F41169-E495-47D4-99AA-A0B624857EFB}" type="slidenum">
              <a:rPr lang="en-US" smtClean="0"/>
              <a:t>‹#›</a:t>
            </a:fld>
            <a:endParaRPr lang="en-US" dirty="0"/>
          </a:p>
        </p:txBody>
      </p:sp>
    </p:spTree>
    <p:extLst>
      <p:ext uri="{BB962C8B-B14F-4D97-AF65-F5344CB8AC3E}">
        <p14:creationId xmlns:p14="http://schemas.microsoft.com/office/powerpoint/2010/main" val="884958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7D82561-CC70-46F7-BA5C-81909A5850B4}" type="datetimeFigureOut">
              <a:rPr lang="en-US" smtClean="0"/>
              <a:t>6/30/2026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3F41169-E495-47D4-99AA-A0B624857EFB}" type="slidenum">
              <a:rPr lang="en-US" smtClean="0"/>
              <a:t>‹#›</a:t>
            </a:fld>
            <a:endParaRPr lang="en-US" dirty="0"/>
          </a:p>
        </p:txBody>
      </p:sp>
    </p:spTree>
    <p:extLst>
      <p:ext uri="{BB962C8B-B14F-4D97-AF65-F5344CB8AC3E}">
        <p14:creationId xmlns:p14="http://schemas.microsoft.com/office/powerpoint/2010/main" val="1394754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7D82561-CC70-46F7-BA5C-81909A5850B4}" type="datetimeFigureOut">
              <a:rPr lang="en-US" smtClean="0"/>
              <a:t>6/30/2026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3F41169-E495-47D4-99AA-A0B624857EFB}" type="slidenum">
              <a:rPr lang="en-US" smtClean="0"/>
              <a:t>‹#›</a:t>
            </a:fld>
            <a:endParaRPr lang="en-US" dirty="0"/>
          </a:p>
        </p:txBody>
      </p:sp>
    </p:spTree>
    <p:extLst>
      <p:ext uri="{BB962C8B-B14F-4D97-AF65-F5344CB8AC3E}">
        <p14:creationId xmlns:p14="http://schemas.microsoft.com/office/powerpoint/2010/main" val="2772821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7D82561-CC70-46F7-BA5C-81909A5850B4}" type="datetimeFigureOut">
              <a:rPr lang="en-US" smtClean="0"/>
              <a:t>6/30/2026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3F41169-E495-47D4-99AA-A0B624857EFB}" type="slidenum">
              <a:rPr lang="en-US" smtClean="0"/>
              <a:t>‹#›</a:t>
            </a:fld>
            <a:endParaRPr lang="en-US" dirty="0"/>
          </a:p>
        </p:txBody>
      </p:sp>
    </p:spTree>
    <p:extLst>
      <p:ext uri="{BB962C8B-B14F-4D97-AF65-F5344CB8AC3E}">
        <p14:creationId xmlns:p14="http://schemas.microsoft.com/office/powerpoint/2010/main" val="2778233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D82561-CC70-46F7-BA5C-81909A5850B4}" type="datetimeFigureOut">
              <a:rPr lang="en-US" smtClean="0"/>
              <a:t>6/30/2026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F41169-E495-47D4-99AA-A0B624857EFB}" type="slidenum">
              <a:rPr lang="en-US" smtClean="0"/>
              <a:t>‹#›</a:t>
            </a:fld>
            <a:endParaRPr lang="en-US" dirty="0"/>
          </a:p>
        </p:txBody>
      </p:sp>
    </p:spTree>
    <p:extLst>
      <p:ext uri="{BB962C8B-B14F-4D97-AF65-F5344CB8AC3E}">
        <p14:creationId xmlns:p14="http://schemas.microsoft.com/office/powerpoint/2010/main" val="22696895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5" y="0"/>
            <a:ext cx="12191999" cy="6585977"/>
          </a:xfrm>
          <a:prstGeom prst="rect">
            <a:avLst/>
          </a:prstGeom>
        </p:spPr>
      </p:pic>
      <p:sp>
        <p:nvSpPr>
          <p:cNvPr id="5" name="Title 1"/>
          <p:cNvSpPr txBox="1">
            <a:spLocks/>
          </p:cNvSpPr>
          <p:nvPr/>
        </p:nvSpPr>
        <p:spPr>
          <a:xfrm>
            <a:off x="1197654" y="287534"/>
            <a:ext cx="9796685" cy="720124"/>
          </a:xfrm>
          <a:prstGeom prst="rect">
            <a:avLst/>
          </a:prstGeom>
          <a:noFill/>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b="1" i="1" dirty="0" smtClean="0">
              <a:solidFill>
                <a:schemeClr val="accent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algn="ctr"/>
            <a:endParaRPr lang="en-US" sz="17600" b="1" i="1" dirty="0" smtClean="0">
              <a:solidFill>
                <a:schemeClr val="accent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algn="ctr"/>
            <a:r>
              <a:rPr lang="en-US" sz="216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Ebenezer Baptist Church</a:t>
            </a:r>
            <a:br>
              <a:rPr lang="en-US" sz="216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br>
            <a:endParaRPr lang="en-US" sz="216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6" name="TextBox 5"/>
          <p:cNvSpPr txBox="1"/>
          <p:nvPr/>
        </p:nvSpPr>
        <p:spPr>
          <a:xfrm>
            <a:off x="1873115" y="4577044"/>
            <a:ext cx="8668870" cy="861774"/>
          </a:xfrm>
          <a:prstGeom prst="rect">
            <a:avLst/>
          </a:prstGeom>
          <a:noFill/>
          <a:effectLst>
            <a:softEdge rad="31750"/>
          </a:effectLst>
        </p:spPr>
        <p:txBody>
          <a:bodyPr wrap="square" rtlCol="0">
            <a:spAutoFit/>
          </a:bodyPr>
          <a:lstStyle/>
          <a:p>
            <a:pPr algn="ctr"/>
            <a:r>
              <a:rPr lang="en-US" sz="50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Faith – Focused - Forward</a:t>
            </a:r>
            <a:endParaRPr lang="en-US" sz="50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7" name="TextBox 6"/>
          <p:cNvSpPr txBox="1"/>
          <p:nvPr/>
        </p:nvSpPr>
        <p:spPr>
          <a:xfrm>
            <a:off x="2026019" y="5338062"/>
            <a:ext cx="8139953" cy="584775"/>
          </a:xfrm>
          <a:prstGeom prst="rect">
            <a:avLst/>
          </a:prstGeom>
          <a:noFill/>
          <a:effectLst>
            <a:softEdge rad="31750"/>
          </a:effectLst>
        </p:spPr>
        <p:txBody>
          <a:bodyPr wrap="square" rtlCol="0">
            <a:spAutoFit/>
          </a:bodyPr>
          <a:lstStyle/>
          <a:p>
            <a:pPr algn="ctr"/>
            <a:r>
              <a:rPr lang="en-US" sz="32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Church </a:t>
            </a:r>
            <a:r>
              <a:rPr lang="en-US" sz="32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Meeting</a:t>
            </a:r>
            <a:endParaRPr lang="en-US" sz="32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8" name="TextBox 7"/>
          <p:cNvSpPr txBox="1"/>
          <p:nvPr/>
        </p:nvSpPr>
        <p:spPr>
          <a:xfrm>
            <a:off x="2571863" y="5902628"/>
            <a:ext cx="6668058" cy="523220"/>
          </a:xfrm>
          <a:prstGeom prst="rect">
            <a:avLst/>
          </a:prstGeom>
          <a:noFill/>
        </p:spPr>
        <p:txBody>
          <a:bodyPr wrap="square" rtlCol="0">
            <a:spAutoFit/>
          </a:bodyPr>
          <a:lstStyle/>
          <a:p>
            <a:pPr algn="ctr"/>
            <a:r>
              <a:rPr lang="en-US" sz="2800" b="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Tuesday </a:t>
            </a:r>
            <a:r>
              <a:rPr lang="en-US" sz="2800" b="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June 30, 2026</a:t>
            </a:r>
          </a:p>
        </p:txBody>
      </p:sp>
      <p:sp>
        <p:nvSpPr>
          <p:cNvPr id="10" name="TextBox 9"/>
          <p:cNvSpPr txBox="1"/>
          <p:nvPr/>
        </p:nvSpPr>
        <p:spPr>
          <a:xfrm>
            <a:off x="0" y="6585978"/>
            <a:ext cx="12192000" cy="372438"/>
          </a:xfrm>
          <a:prstGeom prst="rect">
            <a:avLst/>
          </a:prstGeom>
          <a:solidFill>
            <a:srgbClr val="513E35"/>
          </a:solidFill>
        </p:spPr>
        <p:txBody>
          <a:bodyPr wrap="square" rtlCol="0">
            <a:spAutoFit/>
          </a:bodyPr>
          <a:lstStyle/>
          <a:p>
            <a:endParaRPr lang="en-US" dirty="0">
              <a:ln>
                <a:solidFill>
                  <a:srgbClr val="335020"/>
                </a:solidFill>
              </a:ln>
              <a:solidFill>
                <a:srgbClr val="3F3029"/>
              </a:solidFill>
            </a:endParaRPr>
          </a:p>
        </p:txBody>
      </p:sp>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97725" y="1167789"/>
            <a:ext cx="6372518" cy="3409256"/>
          </a:xfrm>
          <a:prstGeom prst="rect">
            <a:avLst/>
          </a:prstGeom>
          <a:ln>
            <a:noFill/>
          </a:ln>
        </p:spPr>
      </p:pic>
      <p:sp>
        <p:nvSpPr>
          <p:cNvPr id="12" name="Rectangle 11"/>
          <p:cNvSpPr/>
          <p:nvPr/>
        </p:nvSpPr>
        <p:spPr>
          <a:xfrm>
            <a:off x="4545301" y="1388173"/>
            <a:ext cx="3324500" cy="923330"/>
          </a:xfrm>
          <a:prstGeom prst="rect">
            <a:avLst/>
          </a:prstGeom>
          <a:noFill/>
          <a:ln>
            <a:noFill/>
          </a:ln>
          <a:effectLst>
            <a:glow rad="127000">
              <a:srgbClr val="513E35"/>
            </a:glow>
          </a:effectLst>
        </p:spPr>
        <p:txBody>
          <a:bodyPr wrap="none" lIns="91440" tIns="45720" rIns="91440" bIns="45720">
            <a:spAutoFit/>
            <a:flatTx/>
          </a:bodyPr>
          <a:lstStyle/>
          <a:p>
            <a:pPr algn="ctr"/>
            <a:r>
              <a:rPr lang="en-US" sz="5400" b="1" i="1" cap="none" spc="0" dirty="0" smtClean="0">
                <a:ln w="0"/>
                <a:solidFill>
                  <a:srgbClr val="513E35"/>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rPr>
              <a:t>Teamwork</a:t>
            </a:r>
            <a:endParaRPr lang="en-US" sz="5400" b="1" i="1" cap="none" spc="0" dirty="0">
              <a:ln w="0"/>
              <a:solidFill>
                <a:srgbClr val="513E35"/>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endParaRPr>
          </a:p>
        </p:txBody>
      </p:sp>
      <p:sp>
        <p:nvSpPr>
          <p:cNvPr id="13" name="TextBox 12"/>
          <p:cNvSpPr txBox="1"/>
          <p:nvPr/>
        </p:nvSpPr>
        <p:spPr>
          <a:xfrm>
            <a:off x="5052767" y="240383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692715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par>
                                <p:cTn id="11" presetID="22" presetClass="entr" presetSubtype="8" fill="hold" nodeType="with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wipe(left)">
                                      <p:cBhvr>
                                        <p:cTn id="13"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2" y="-85803"/>
            <a:ext cx="12191999" cy="6858000"/>
          </a:xfrm>
          <a:prstGeom prst="rect">
            <a:avLst/>
          </a:prstGeom>
        </p:spPr>
      </p:pic>
      <p:sp>
        <p:nvSpPr>
          <p:cNvPr id="5" name="Title 1"/>
          <p:cNvSpPr txBox="1">
            <a:spLocks/>
          </p:cNvSpPr>
          <p:nvPr/>
        </p:nvSpPr>
        <p:spPr>
          <a:xfrm>
            <a:off x="933590" y="309221"/>
            <a:ext cx="10690578" cy="1320322"/>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spcAft>
                <a:spcPts val="300"/>
              </a:spcAft>
            </a:pPr>
            <a:r>
              <a:rPr lang="en-US" sz="55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Faith – Focused </a:t>
            </a:r>
            <a:r>
              <a:rPr lang="en-US" sz="55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Forward             </a:t>
            </a:r>
          </a:p>
          <a:p>
            <a:pPr algn="ctr">
              <a:spcBef>
                <a:spcPts val="0"/>
              </a:spcBef>
              <a:spcAft>
                <a:spcPts val="300"/>
              </a:spcAft>
            </a:pPr>
            <a:r>
              <a:rPr lang="en-US" sz="31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Conference Purpose</a:t>
            </a:r>
            <a:endParaRPr lang="en-US" sz="31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10" name="TextBox 9"/>
          <p:cNvSpPr txBox="1"/>
          <p:nvPr/>
        </p:nvSpPr>
        <p:spPr>
          <a:xfrm>
            <a:off x="0" y="6585978"/>
            <a:ext cx="12192000" cy="372438"/>
          </a:xfrm>
          <a:prstGeom prst="rect">
            <a:avLst/>
          </a:prstGeom>
          <a:solidFill>
            <a:srgbClr val="513E35"/>
          </a:solidFill>
        </p:spPr>
        <p:txBody>
          <a:bodyPr wrap="square" rtlCol="0">
            <a:spAutoFit/>
          </a:bodyPr>
          <a:lstStyle/>
          <a:p>
            <a:endParaRPr lang="en-US" dirty="0">
              <a:ln>
                <a:solidFill>
                  <a:srgbClr val="335020"/>
                </a:solidFill>
              </a:ln>
              <a:solidFill>
                <a:schemeClr val="accent1"/>
              </a:solidFill>
            </a:endParaRPr>
          </a:p>
        </p:txBody>
      </p:sp>
      <p:sp>
        <p:nvSpPr>
          <p:cNvPr id="2" name="Rectangle 1"/>
          <p:cNvSpPr/>
          <p:nvPr/>
        </p:nvSpPr>
        <p:spPr>
          <a:xfrm>
            <a:off x="1598471" y="1798099"/>
            <a:ext cx="9360816" cy="3200876"/>
          </a:xfrm>
          <a:prstGeom prst="rect">
            <a:avLst/>
          </a:prstGeom>
        </p:spPr>
        <p:txBody>
          <a:bodyPr wrap="square">
            <a:spAutoFit/>
          </a:bodyPr>
          <a:lstStyle/>
          <a:p>
            <a:r>
              <a:rPr lang="en-US" sz="32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To gather insights from ministry leaders so we can build a </a:t>
            </a:r>
            <a:r>
              <a:rPr lang="en-US" sz="3200" b="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Strategic Plan </a:t>
            </a:r>
            <a:r>
              <a:rPr lang="en-US" sz="32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that strengthens every major pillar of the </a:t>
            </a:r>
            <a:r>
              <a:rPr lang="en-US" sz="3200" b="1" i="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Church Ministries</a:t>
            </a:r>
            <a:r>
              <a:rPr lang="en-US" sz="32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3200" b="1" i="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Missions</a:t>
            </a:r>
            <a:r>
              <a:rPr lang="en-US" sz="32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3200" b="1" i="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Finances</a:t>
            </a:r>
            <a:r>
              <a:rPr lang="en-US" sz="32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3200" b="1" i="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Leadership Development</a:t>
            </a:r>
            <a:r>
              <a:rPr lang="en-US" sz="32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and </a:t>
            </a:r>
            <a:r>
              <a:rPr lang="en-US" sz="3200" b="1" i="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Administrative</a:t>
            </a:r>
            <a:r>
              <a:rPr lang="en-US" sz="32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3200" b="1" i="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Operations</a:t>
            </a:r>
            <a:r>
              <a:rPr lang="en-US" sz="32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32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for long‑term growth and sustainability</a:t>
            </a:r>
            <a:r>
              <a:rPr lang="en-US" sz="32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p>
          <a:p>
            <a:r>
              <a:rPr lang="en-US" sz="16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endParaRPr lang="en-US" sz="16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pPr algn="just"/>
            <a:endParaRPr lang="en-US" sz="800" b="1" dirty="0">
              <a:solidFill>
                <a:schemeClr val="accent1"/>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pPr marL="230187" algn="just"/>
            <a:endParaRPr lang="en-US" b="1" dirty="0">
              <a:solidFill>
                <a:srgbClr val="C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p:txBody>
      </p:sp>
      <p:sp>
        <p:nvSpPr>
          <p:cNvPr id="3" name="Rectangle 2"/>
          <p:cNvSpPr/>
          <p:nvPr/>
        </p:nvSpPr>
        <p:spPr>
          <a:xfrm>
            <a:off x="993425" y="5020597"/>
            <a:ext cx="10205143" cy="400110"/>
          </a:xfrm>
          <a:prstGeom prst="rect">
            <a:avLst/>
          </a:prstGeom>
        </p:spPr>
        <p:txBody>
          <a:bodyPr wrap="square">
            <a:spAutoFit/>
          </a:bodyPr>
          <a:lstStyle/>
          <a:p>
            <a:pPr marL="342900" indent="-112713" algn="just">
              <a:buFont typeface="Arial" panose="020B0604020202020204" pitchFamily="34" charset="0"/>
              <a:buChar char="•"/>
            </a:pPr>
            <a:r>
              <a:rPr lang="en-US" sz="2000" b="1" i="1" dirty="0">
                <a:solidFill>
                  <a:srgbClr val="C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“Commit to the Lord whatever you do, and he will establish your plans.” - Prov.16:3 </a:t>
            </a:r>
          </a:p>
        </p:txBody>
      </p:sp>
    </p:spTree>
    <p:extLst>
      <p:ext uri="{BB962C8B-B14F-4D97-AF65-F5344CB8AC3E}">
        <p14:creationId xmlns:p14="http://schemas.microsoft.com/office/powerpoint/2010/main" val="144676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1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 y="-100562"/>
            <a:ext cx="12191999" cy="6943803"/>
          </a:xfrm>
          <a:prstGeom prst="rect">
            <a:avLst/>
          </a:prstGeom>
        </p:spPr>
      </p:pic>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6606" y="1063332"/>
            <a:ext cx="11038787" cy="5309971"/>
          </a:xfrm>
          <a:prstGeom prst="rect">
            <a:avLst/>
          </a:prstGeom>
          <a:ln w="38100" cap="sq">
            <a:solidFill>
              <a:srgbClr val="513E35"/>
            </a:solidFill>
            <a:prstDash val="solid"/>
            <a:miter lim="800000"/>
          </a:ln>
          <a:effectLst>
            <a:outerShdw blurRad="50800" dist="38100" dir="2700000" algn="tl" rotWithShape="0">
              <a:srgbClr val="000000">
                <a:alpha val="43000"/>
              </a:srgbClr>
            </a:outerShdw>
          </a:effectLst>
        </p:spPr>
      </p:pic>
      <p:sp>
        <p:nvSpPr>
          <p:cNvPr id="8" name="Title 1"/>
          <p:cNvSpPr txBox="1">
            <a:spLocks/>
          </p:cNvSpPr>
          <p:nvPr/>
        </p:nvSpPr>
        <p:spPr>
          <a:xfrm>
            <a:off x="645445" y="-95849"/>
            <a:ext cx="10690578" cy="946506"/>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spcAft>
                <a:spcPts val="300"/>
              </a:spcAft>
            </a:pPr>
            <a:r>
              <a:rPr lang="en-US" sz="4900" b="1" i="1" dirty="0">
                <a:solidFill>
                  <a:schemeClr val="accent5">
                    <a:lumMod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Faith – Focused </a:t>
            </a:r>
            <a:r>
              <a:rPr lang="en-US" sz="4900" b="1" i="1" dirty="0" smtClean="0">
                <a:solidFill>
                  <a:schemeClr val="accent5">
                    <a:lumMod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Forward             </a:t>
            </a:r>
          </a:p>
        </p:txBody>
      </p:sp>
      <p:sp>
        <p:nvSpPr>
          <p:cNvPr id="9" name="TextBox 8"/>
          <p:cNvSpPr txBox="1"/>
          <p:nvPr/>
        </p:nvSpPr>
        <p:spPr>
          <a:xfrm>
            <a:off x="3287875" y="594417"/>
            <a:ext cx="5405717" cy="400110"/>
          </a:xfrm>
          <a:prstGeom prst="rect">
            <a:avLst/>
          </a:prstGeom>
          <a:noFill/>
          <a:effectLst>
            <a:softEdge rad="31750"/>
          </a:effectLst>
        </p:spPr>
        <p:txBody>
          <a:bodyPr wrap="square" rtlCol="0">
            <a:spAutoFit/>
          </a:bodyPr>
          <a:lstStyle/>
          <a:p>
            <a:pPr algn="ctr"/>
            <a:r>
              <a:rPr lang="en-US" sz="20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Proposed Future State</a:t>
            </a:r>
            <a:endParaRPr lang="en-US" sz="20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11" name="TextBox 10"/>
          <p:cNvSpPr txBox="1"/>
          <p:nvPr/>
        </p:nvSpPr>
        <p:spPr>
          <a:xfrm>
            <a:off x="0" y="6585978"/>
            <a:ext cx="12192000" cy="372438"/>
          </a:xfrm>
          <a:prstGeom prst="rect">
            <a:avLst/>
          </a:prstGeom>
          <a:solidFill>
            <a:srgbClr val="3F3029"/>
          </a:solidFill>
        </p:spPr>
        <p:txBody>
          <a:bodyPr wrap="square" rtlCol="0">
            <a:spAutoFit/>
          </a:bodyPr>
          <a:lstStyle/>
          <a:p>
            <a:endParaRPr lang="en-US" dirty="0">
              <a:ln>
                <a:solidFill>
                  <a:srgbClr val="335020"/>
                </a:solidFill>
              </a:ln>
              <a:solidFill>
                <a:srgbClr val="005828"/>
              </a:solidFill>
            </a:endParaRPr>
          </a:p>
        </p:txBody>
      </p:sp>
    </p:spTree>
    <p:extLst>
      <p:ext uri="{BB962C8B-B14F-4D97-AF65-F5344CB8AC3E}">
        <p14:creationId xmlns:p14="http://schemas.microsoft.com/office/powerpoint/2010/main" val="378050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 y="0"/>
            <a:ext cx="12191999" cy="6858000"/>
          </a:xfrm>
          <a:prstGeom prst="rect">
            <a:avLst/>
          </a:prstGeom>
        </p:spPr>
      </p:pic>
      <p:sp>
        <p:nvSpPr>
          <p:cNvPr id="5" name="Title 1"/>
          <p:cNvSpPr txBox="1">
            <a:spLocks/>
          </p:cNvSpPr>
          <p:nvPr/>
        </p:nvSpPr>
        <p:spPr>
          <a:xfrm>
            <a:off x="907621" y="164961"/>
            <a:ext cx="10690578" cy="1320322"/>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spcAft>
                <a:spcPts val="300"/>
              </a:spcAft>
            </a:pPr>
            <a:r>
              <a:rPr lang="en-US" sz="5000" b="1" i="1" dirty="0">
                <a:solidFill>
                  <a:schemeClr val="accent5">
                    <a:lumMod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Faith – Focused </a:t>
            </a:r>
            <a:r>
              <a:rPr lang="en-US" sz="5000" b="1" i="1" dirty="0" smtClean="0">
                <a:solidFill>
                  <a:schemeClr val="accent5">
                    <a:lumMod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Forward             </a:t>
            </a:r>
          </a:p>
        </p:txBody>
      </p:sp>
      <p:sp>
        <p:nvSpPr>
          <p:cNvPr id="10" name="TextBox 9"/>
          <p:cNvSpPr txBox="1"/>
          <p:nvPr/>
        </p:nvSpPr>
        <p:spPr>
          <a:xfrm>
            <a:off x="0" y="6585978"/>
            <a:ext cx="12192000" cy="372438"/>
          </a:xfrm>
          <a:prstGeom prst="rect">
            <a:avLst/>
          </a:prstGeom>
          <a:solidFill>
            <a:srgbClr val="3F3029"/>
          </a:solidFill>
        </p:spPr>
        <p:txBody>
          <a:bodyPr wrap="square" rtlCol="0">
            <a:spAutoFit/>
          </a:bodyPr>
          <a:lstStyle/>
          <a:p>
            <a:endParaRPr lang="en-US" dirty="0">
              <a:ln>
                <a:solidFill>
                  <a:srgbClr val="335020"/>
                </a:solidFill>
              </a:ln>
              <a:solidFill>
                <a:srgbClr val="005828"/>
              </a:solidFill>
            </a:endParaRPr>
          </a:p>
        </p:txBody>
      </p:sp>
      <p:sp>
        <p:nvSpPr>
          <p:cNvPr id="8" name="Title 3"/>
          <p:cNvSpPr txBox="1">
            <a:spLocks/>
          </p:cNvSpPr>
          <p:nvPr/>
        </p:nvSpPr>
        <p:spPr>
          <a:xfrm>
            <a:off x="3555355" y="1307808"/>
            <a:ext cx="5081285" cy="560257"/>
          </a:xfrm>
          <a:prstGeom prst="rect">
            <a:avLst/>
          </a:prstGeom>
          <a:effectLst>
            <a:outerShdw blurRad="50800" dist="38100" dir="2700000" algn="tl" rotWithShape="0">
              <a:srgbClr val="000000">
                <a:alpha val="39999"/>
              </a:srgbClr>
            </a:outerShdw>
          </a:effectLst>
        </p:spPr>
        <p:txBody>
          <a:bodyPr vert="horz" lIns="91440" tIns="45720" rIns="91440" bIns="45720" rtlCol="0" anchor="b">
            <a:noAutofit/>
          </a:bodyPr>
          <a:lstStyle>
            <a:lvl1pPr algn="ctr" defTabSz="914400" rtl="0" eaLnBrk="1" latinLnBrk="0" hangingPunct="1">
              <a:spcBef>
                <a:spcPct val="0"/>
              </a:spcBef>
              <a:buNone/>
              <a:defRPr sz="6000" kern="1200">
                <a:solidFill>
                  <a:schemeClr val="accent1">
                    <a:lumMod val="75000"/>
                  </a:schemeClr>
                </a:solidFill>
                <a:latin typeface="+mj-lt"/>
                <a:ea typeface="+mj-ea"/>
                <a:cs typeface="+mj-cs"/>
              </a:defRPr>
            </a:lvl1pPr>
          </a:lstStyle>
          <a:p>
            <a:pPr>
              <a:defRPr/>
            </a:pPr>
            <a:r>
              <a:rPr lang="en-US" sz="3600" b="1" dirty="0" smtClean="0">
                <a:solidFill>
                  <a:schemeClr val="accent5">
                    <a:lumMod val="50000"/>
                  </a:schemeClr>
                </a:solidFill>
                <a:latin typeface="Cambria" panose="02040503050406030204" pitchFamily="18" charset="0"/>
                <a:ea typeface="Cambria" panose="02040503050406030204" pitchFamily="18" charset="0"/>
              </a:rPr>
              <a:t>Focus</a:t>
            </a:r>
            <a:endParaRPr lang="en-US" sz="3600" b="1" dirty="0">
              <a:solidFill>
                <a:schemeClr val="accent5">
                  <a:lumMod val="50000"/>
                </a:schemeClr>
              </a:solidFill>
              <a:latin typeface="Cambria" panose="02040503050406030204" pitchFamily="18" charset="0"/>
              <a:ea typeface="Cambria" panose="02040503050406030204" pitchFamily="18" charset="0"/>
            </a:endParaRPr>
          </a:p>
        </p:txBody>
      </p:sp>
      <p:sp>
        <p:nvSpPr>
          <p:cNvPr id="9" name="Rectangle 8">
            <a:hlinkClick r:id="" action="ppaction://noaction"/>
          </p:cNvPr>
          <p:cNvSpPr>
            <a:spLocks noChangeArrowheads="1"/>
          </p:cNvSpPr>
          <p:nvPr/>
        </p:nvSpPr>
        <p:spPr bwMode="auto">
          <a:xfrm>
            <a:off x="3215831" y="2890008"/>
            <a:ext cx="5984111" cy="538992"/>
          </a:xfrm>
          <a:prstGeom prst="rect">
            <a:avLst/>
          </a:prstGeom>
          <a:solidFill>
            <a:srgbClr val="3F3029"/>
          </a:solidFill>
          <a:ln>
            <a:noFill/>
          </a:ln>
          <a:effectLst>
            <a:outerShdw blurRad="50800" dist="38100" dir="2700000" algn="tl" rotWithShape="0">
              <a:srgbClr val="808080">
                <a:alpha val="39999"/>
              </a:srgbClr>
            </a:outerShdw>
          </a:effectLst>
        </p:spPr>
        <p:txBody>
          <a:bodyPr anchor="ctr"/>
          <a:lstStyle/>
          <a:p>
            <a:pPr algn="ctr">
              <a:defRPr/>
            </a:pPr>
            <a:r>
              <a:rPr lang="en-US" sz="2400" b="1" dirty="0" smtClean="0">
                <a:ln w="6600">
                  <a:solidFill>
                    <a:schemeClr val="accent2"/>
                  </a:solidFill>
                  <a:prstDash val="solid"/>
                </a:ln>
                <a:solidFill>
                  <a:srgbClr val="FFFFFF"/>
                </a:solidFill>
                <a:effectLst>
                  <a:outerShdw dist="38100" dir="2700000" algn="tl" rotWithShape="0">
                    <a:schemeClr val="accent2"/>
                  </a:outerShdw>
                </a:effectLst>
                <a:latin typeface="Cambria" panose="02040503050406030204" pitchFamily="18" charset="0"/>
                <a:ea typeface="Cambria" panose="02040503050406030204" pitchFamily="18" charset="0"/>
              </a:rPr>
              <a:t> </a:t>
            </a:r>
            <a:r>
              <a:rPr lang="en-US" sz="2400" b="1" dirty="0" smtClean="0">
                <a:ln w="6600">
                  <a:noFill/>
                  <a:prstDash val="solid"/>
                </a:ln>
                <a:solidFill>
                  <a:srgbClr val="FFFFFF"/>
                </a:solidFill>
                <a:effectLst>
                  <a:outerShdw dist="38100" dir="2700000" algn="tl" rotWithShape="0">
                    <a:schemeClr val="accent2"/>
                  </a:outerShdw>
                </a:effectLst>
                <a:latin typeface="Cambria" panose="02040503050406030204" pitchFamily="18" charset="0"/>
                <a:ea typeface="Cambria" panose="02040503050406030204" pitchFamily="18" charset="0"/>
              </a:rPr>
              <a:t>Review Actionable Objectives</a:t>
            </a:r>
            <a:endParaRPr lang="en-US" sz="2400" b="1" dirty="0">
              <a:ln w="6600">
                <a:noFill/>
                <a:prstDash val="solid"/>
              </a:ln>
              <a:solidFill>
                <a:srgbClr val="FFFFFF"/>
              </a:solidFill>
              <a:effectLst>
                <a:outerShdw dist="38100" dir="2700000" algn="tl" rotWithShape="0">
                  <a:schemeClr val="accent2"/>
                </a:outerShdw>
              </a:effectLst>
              <a:latin typeface="Cambria" panose="02040503050406030204" pitchFamily="18" charset="0"/>
              <a:ea typeface="Cambria" panose="02040503050406030204" pitchFamily="18" charset="0"/>
              <a:cs typeface="Times New Roman"/>
            </a:endParaRPr>
          </a:p>
        </p:txBody>
      </p:sp>
      <p:sp>
        <p:nvSpPr>
          <p:cNvPr id="11" name="Rectangle 10">
            <a:hlinkClick r:id="" action="ppaction://noaction"/>
          </p:cNvPr>
          <p:cNvSpPr>
            <a:spLocks noChangeArrowheads="1"/>
          </p:cNvSpPr>
          <p:nvPr/>
        </p:nvSpPr>
        <p:spPr bwMode="auto">
          <a:xfrm>
            <a:off x="3215830" y="2101276"/>
            <a:ext cx="5984111" cy="538992"/>
          </a:xfrm>
          <a:prstGeom prst="rect">
            <a:avLst/>
          </a:prstGeom>
          <a:solidFill>
            <a:srgbClr val="3F3029"/>
          </a:solidFill>
          <a:ln>
            <a:noFill/>
          </a:ln>
          <a:effectLst>
            <a:outerShdw blurRad="50800" dist="38100" dir="2700000" algn="tl" rotWithShape="0">
              <a:srgbClr val="808080">
                <a:alpha val="39999"/>
              </a:srgbClr>
            </a:outerShdw>
          </a:effectLst>
        </p:spPr>
        <p:txBody>
          <a:bodyPr anchor="ctr"/>
          <a:lstStyle/>
          <a:p>
            <a:pPr algn="ctr">
              <a:defRPr/>
            </a:pPr>
            <a:endParaRPr lang="en-US" sz="2400" b="1" dirty="0" smtClean="0">
              <a:ln w="6600">
                <a:noFill/>
                <a:prstDash val="solid"/>
              </a:ln>
              <a:solidFill>
                <a:srgbClr val="FFFFFF"/>
              </a:solidFill>
              <a:effectLst>
                <a:outerShdw dist="38100" dir="2700000" algn="tl" rotWithShape="0">
                  <a:schemeClr val="accent2"/>
                </a:outerShdw>
              </a:effectLst>
              <a:latin typeface="Cambria" panose="02040503050406030204" pitchFamily="18" charset="0"/>
              <a:ea typeface="Cambria" panose="02040503050406030204" pitchFamily="18" charset="0"/>
            </a:endParaRPr>
          </a:p>
          <a:p>
            <a:pPr algn="ctr">
              <a:defRPr/>
            </a:pPr>
            <a:r>
              <a:rPr lang="en-US" sz="2400" b="1" dirty="0" smtClean="0">
                <a:ln w="6600">
                  <a:noFill/>
                  <a:prstDash val="solid"/>
                </a:ln>
                <a:solidFill>
                  <a:srgbClr val="FFFFFF"/>
                </a:solidFill>
                <a:effectLst>
                  <a:outerShdw dist="38100" dir="2700000" algn="tl" rotWithShape="0">
                    <a:schemeClr val="accent2"/>
                  </a:outerShdw>
                </a:effectLst>
                <a:latin typeface="Cambria" panose="02040503050406030204" pitchFamily="18" charset="0"/>
                <a:ea typeface="Cambria" panose="02040503050406030204" pitchFamily="18" charset="0"/>
              </a:rPr>
              <a:t>EBC </a:t>
            </a:r>
            <a:r>
              <a:rPr lang="en-US" sz="2400" b="1" dirty="0" smtClean="0">
                <a:ln w="6600">
                  <a:noFill/>
                  <a:prstDash val="solid"/>
                </a:ln>
                <a:solidFill>
                  <a:srgbClr val="FFFFFF"/>
                </a:solidFill>
                <a:effectLst>
                  <a:outerShdw dist="38100" dir="2700000" algn="tl" rotWithShape="0">
                    <a:schemeClr val="accent2"/>
                  </a:outerShdw>
                </a:effectLst>
                <a:latin typeface="Cambria" panose="02040503050406030204" pitchFamily="18" charset="0"/>
                <a:ea typeface="Cambria" panose="02040503050406030204" pitchFamily="18" charset="0"/>
              </a:rPr>
              <a:t>Vision Recast</a:t>
            </a:r>
            <a:endParaRPr lang="en-US" sz="2400" b="1" dirty="0" smtClean="0">
              <a:ln w="6600">
                <a:noFill/>
                <a:prstDash val="solid"/>
              </a:ln>
              <a:solidFill>
                <a:srgbClr val="FFFFFF"/>
              </a:solidFill>
              <a:effectLst>
                <a:outerShdw dist="38100" dir="2700000" algn="tl" rotWithShape="0">
                  <a:schemeClr val="accent2"/>
                </a:outerShdw>
              </a:effectLst>
              <a:latin typeface="Cambria" panose="02040503050406030204" pitchFamily="18" charset="0"/>
              <a:ea typeface="Cambria" panose="02040503050406030204" pitchFamily="18" charset="0"/>
              <a:cs typeface="Times New Roman"/>
            </a:endParaRPr>
          </a:p>
          <a:p>
            <a:pPr algn="ctr">
              <a:defRPr/>
            </a:pPr>
            <a:endParaRPr lang="en-US" sz="2400" b="1" dirty="0">
              <a:ln w="6600">
                <a:noFill/>
                <a:prstDash val="solid"/>
              </a:ln>
              <a:solidFill>
                <a:srgbClr val="FFFFFF"/>
              </a:solidFill>
              <a:effectLst>
                <a:outerShdw dist="38100" dir="2700000" algn="tl" rotWithShape="0">
                  <a:schemeClr val="accent2"/>
                </a:outerShdw>
              </a:effectLst>
              <a:latin typeface="Cambria" panose="02040503050406030204" pitchFamily="18" charset="0"/>
              <a:ea typeface="Cambria" panose="02040503050406030204" pitchFamily="18" charset="0"/>
              <a:cs typeface="Times New Roman"/>
            </a:endParaRPr>
          </a:p>
        </p:txBody>
      </p:sp>
      <p:sp>
        <p:nvSpPr>
          <p:cNvPr id="12" name="Rectangle 11">
            <a:hlinkClick r:id="" action="ppaction://noaction"/>
          </p:cNvPr>
          <p:cNvSpPr>
            <a:spLocks noChangeArrowheads="1"/>
          </p:cNvSpPr>
          <p:nvPr/>
        </p:nvSpPr>
        <p:spPr bwMode="auto">
          <a:xfrm>
            <a:off x="3179349" y="3758767"/>
            <a:ext cx="5984111" cy="538992"/>
          </a:xfrm>
          <a:prstGeom prst="rect">
            <a:avLst/>
          </a:prstGeom>
          <a:solidFill>
            <a:srgbClr val="3F3029"/>
          </a:solidFill>
          <a:ln>
            <a:noFill/>
          </a:ln>
          <a:effectLst>
            <a:outerShdw blurRad="50800" dist="38100" dir="2700000" algn="tl" rotWithShape="0">
              <a:srgbClr val="808080">
                <a:alpha val="39999"/>
              </a:srgbClr>
            </a:outerShdw>
          </a:effectLst>
        </p:spPr>
        <p:txBody>
          <a:bodyPr anchor="ctr"/>
          <a:lstStyle/>
          <a:p>
            <a:pPr algn="ctr">
              <a:defRPr/>
            </a:pPr>
            <a:r>
              <a:rPr lang="en-US" sz="2400" b="1" dirty="0" smtClean="0">
                <a:ln w="6600">
                  <a:noFill/>
                  <a:prstDash val="solid"/>
                </a:ln>
                <a:solidFill>
                  <a:srgbClr val="FFFFFF"/>
                </a:solidFill>
                <a:effectLst>
                  <a:outerShdw dist="38100" dir="2700000" algn="tl" rotWithShape="0">
                    <a:schemeClr val="accent2"/>
                  </a:outerShdw>
                </a:effectLst>
                <a:latin typeface="Cambria" panose="02040503050406030204" pitchFamily="18" charset="0"/>
                <a:ea typeface="Cambria" panose="02040503050406030204" pitchFamily="18" charset="0"/>
              </a:rPr>
              <a:t>Operational Processes (SOP’s) </a:t>
            </a:r>
            <a:endParaRPr lang="en-US" sz="2400" b="1" dirty="0">
              <a:ln w="6600">
                <a:noFill/>
                <a:prstDash val="solid"/>
              </a:ln>
              <a:solidFill>
                <a:srgbClr val="FFFFFF"/>
              </a:solidFill>
              <a:effectLst>
                <a:outerShdw dist="38100" dir="2700000" algn="tl" rotWithShape="0">
                  <a:schemeClr val="accent2"/>
                </a:outerShdw>
              </a:effectLst>
              <a:latin typeface="Cambria" panose="02040503050406030204" pitchFamily="18" charset="0"/>
              <a:ea typeface="Cambria" panose="02040503050406030204" pitchFamily="18" charset="0"/>
              <a:cs typeface="Times New Roman"/>
            </a:endParaRPr>
          </a:p>
        </p:txBody>
      </p:sp>
      <p:sp>
        <p:nvSpPr>
          <p:cNvPr id="13" name="Rectangle 12">
            <a:hlinkClick r:id="" action="ppaction://noaction"/>
          </p:cNvPr>
          <p:cNvSpPr>
            <a:spLocks noChangeArrowheads="1"/>
          </p:cNvSpPr>
          <p:nvPr/>
        </p:nvSpPr>
        <p:spPr bwMode="auto">
          <a:xfrm>
            <a:off x="3179351" y="5346613"/>
            <a:ext cx="5984111" cy="538992"/>
          </a:xfrm>
          <a:prstGeom prst="rect">
            <a:avLst/>
          </a:prstGeom>
          <a:solidFill>
            <a:srgbClr val="3F3029"/>
          </a:solidFill>
          <a:ln>
            <a:noFill/>
          </a:ln>
          <a:effectLst>
            <a:outerShdw blurRad="50800" dist="38100" dir="2700000" algn="tl" rotWithShape="0">
              <a:srgbClr val="808080">
                <a:alpha val="39999"/>
              </a:srgbClr>
            </a:outerShdw>
          </a:effectLst>
        </p:spPr>
        <p:txBody>
          <a:bodyPr anchor="ctr"/>
          <a:lstStyle/>
          <a:p>
            <a:pPr algn="ctr">
              <a:defRPr/>
            </a:pPr>
            <a:r>
              <a:rPr lang="en-US" sz="2400" b="1" dirty="0" smtClean="0">
                <a:ln w="6600">
                  <a:solidFill>
                    <a:schemeClr val="accent2"/>
                  </a:solidFill>
                  <a:prstDash val="solid"/>
                </a:ln>
                <a:solidFill>
                  <a:srgbClr val="FFFFFF"/>
                </a:solidFill>
                <a:effectLst>
                  <a:outerShdw dist="38100" dir="2700000" algn="tl" rotWithShape="0">
                    <a:schemeClr val="accent2"/>
                  </a:outerShdw>
                </a:effectLst>
                <a:latin typeface="Cambria" panose="02040503050406030204" pitchFamily="18" charset="0"/>
                <a:ea typeface="Cambria" panose="02040503050406030204" pitchFamily="18" charset="0"/>
              </a:rPr>
              <a:t> </a:t>
            </a:r>
            <a:r>
              <a:rPr lang="en-US" sz="2400" b="1" dirty="0" smtClean="0">
                <a:ln w="6600">
                  <a:noFill/>
                  <a:prstDash val="solid"/>
                </a:ln>
                <a:solidFill>
                  <a:srgbClr val="FFFFFF"/>
                </a:solidFill>
                <a:effectLst>
                  <a:outerShdw dist="38100" dir="2700000" algn="tl" rotWithShape="0">
                    <a:schemeClr val="accent2"/>
                  </a:outerShdw>
                </a:effectLst>
                <a:latin typeface="Cambria" panose="02040503050406030204" pitchFamily="18" charset="0"/>
                <a:ea typeface="Cambria" panose="02040503050406030204" pitchFamily="18" charset="0"/>
              </a:rPr>
              <a:t>What’s Next</a:t>
            </a:r>
            <a:endParaRPr lang="en-US" sz="2400" b="1" dirty="0">
              <a:ln w="6600">
                <a:noFill/>
                <a:prstDash val="solid"/>
              </a:ln>
              <a:solidFill>
                <a:srgbClr val="FFFFFF"/>
              </a:solidFill>
              <a:effectLst>
                <a:outerShdw dist="38100" dir="2700000" algn="tl" rotWithShape="0">
                  <a:schemeClr val="accent2"/>
                </a:outerShdw>
              </a:effectLst>
              <a:latin typeface="Cambria" panose="02040503050406030204" pitchFamily="18" charset="0"/>
              <a:ea typeface="Cambria" panose="02040503050406030204" pitchFamily="18" charset="0"/>
              <a:cs typeface="Times New Roman"/>
            </a:endParaRPr>
          </a:p>
        </p:txBody>
      </p:sp>
      <p:sp>
        <p:nvSpPr>
          <p:cNvPr id="14" name="Rectangle 13">
            <a:hlinkClick r:id="" action="ppaction://noaction"/>
          </p:cNvPr>
          <p:cNvSpPr>
            <a:spLocks noChangeArrowheads="1"/>
          </p:cNvSpPr>
          <p:nvPr/>
        </p:nvSpPr>
        <p:spPr bwMode="auto">
          <a:xfrm>
            <a:off x="3179349" y="4564229"/>
            <a:ext cx="5984111" cy="538992"/>
          </a:xfrm>
          <a:prstGeom prst="rect">
            <a:avLst/>
          </a:prstGeom>
          <a:solidFill>
            <a:srgbClr val="3F3029"/>
          </a:solidFill>
          <a:ln>
            <a:noFill/>
          </a:ln>
          <a:effectLst>
            <a:outerShdw blurRad="50800" dist="38100" dir="2700000" algn="tl" rotWithShape="0">
              <a:srgbClr val="808080">
                <a:alpha val="39999"/>
              </a:srgbClr>
            </a:outerShdw>
          </a:effectLst>
        </p:spPr>
        <p:txBody>
          <a:bodyPr anchor="ctr"/>
          <a:lstStyle/>
          <a:p>
            <a:pPr algn="ctr">
              <a:defRPr/>
            </a:pPr>
            <a:r>
              <a:rPr lang="en-US" sz="2400" b="1" dirty="0" smtClean="0">
                <a:ln w="6600">
                  <a:noFill/>
                  <a:prstDash val="solid"/>
                </a:ln>
                <a:solidFill>
                  <a:srgbClr val="FFFFFF"/>
                </a:solidFill>
                <a:effectLst>
                  <a:outerShdw dist="38100" dir="2700000" algn="tl" rotWithShape="0">
                    <a:schemeClr val="accent2"/>
                  </a:outerShdw>
                </a:effectLst>
                <a:latin typeface="Cambria" panose="02040503050406030204" pitchFamily="18" charset="0"/>
                <a:ea typeface="Cambria" panose="02040503050406030204" pitchFamily="18" charset="0"/>
              </a:rPr>
              <a:t>Assign Actionable Objectives </a:t>
            </a:r>
            <a:endParaRPr lang="en-US" sz="2400" b="1" dirty="0">
              <a:ln w="6600">
                <a:noFill/>
                <a:prstDash val="solid"/>
              </a:ln>
              <a:solidFill>
                <a:srgbClr val="FFFFFF"/>
              </a:solidFill>
              <a:effectLst>
                <a:outerShdw dist="38100" dir="2700000" algn="tl" rotWithShape="0">
                  <a:schemeClr val="accent2"/>
                </a:outerShdw>
              </a:effectLst>
              <a:latin typeface="Cambria" panose="02040503050406030204" pitchFamily="18" charset="0"/>
              <a:ea typeface="Cambria" panose="02040503050406030204" pitchFamily="18" charset="0"/>
              <a:cs typeface="Times New Roman"/>
            </a:endParaRPr>
          </a:p>
        </p:txBody>
      </p:sp>
    </p:spTree>
    <p:extLst>
      <p:ext uri="{BB962C8B-B14F-4D97-AF65-F5344CB8AC3E}">
        <p14:creationId xmlns:p14="http://schemas.microsoft.com/office/powerpoint/2010/main" val="723034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1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1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10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10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10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1" grpId="0" animBg="1"/>
      <p:bldP spid="12" grpId="0" animBg="1"/>
      <p:bldP spid="13"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9832" y="0"/>
            <a:ext cx="12191999" cy="6858000"/>
          </a:xfrm>
          <a:prstGeom prst="rect">
            <a:avLst/>
          </a:prstGeom>
        </p:spPr>
      </p:pic>
      <p:sp>
        <p:nvSpPr>
          <p:cNvPr id="5" name="Title 1"/>
          <p:cNvSpPr txBox="1">
            <a:spLocks/>
          </p:cNvSpPr>
          <p:nvPr/>
        </p:nvSpPr>
        <p:spPr>
          <a:xfrm>
            <a:off x="936101" y="370464"/>
            <a:ext cx="10690578" cy="1320322"/>
          </a:xfrm>
          <a:prstGeom prst="rect">
            <a:avLst/>
          </a:prstGeom>
          <a:noFill/>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spcAft>
                <a:spcPts val="300"/>
              </a:spcAft>
            </a:pPr>
            <a:r>
              <a:rPr lang="en-US" sz="50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Faith – Focused – Forward             </a:t>
            </a:r>
          </a:p>
          <a:p>
            <a:pPr algn="ctr">
              <a:spcBef>
                <a:spcPts val="0"/>
              </a:spcBef>
              <a:spcAft>
                <a:spcPts val="300"/>
              </a:spcAft>
            </a:pPr>
            <a:r>
              <a:rPr lang="en-US"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Vision</a:t>
            </a:r>
            <a:endParaRPr lang="en-US"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10" name="TextBox 9"/>
          <p:cNvSpPr txBox="1"/>
          <p:nvPr/>
        </p:nvSpPr>
        <p:spPr>
          <a:xfrm>
            <a:off x="0" y="6585978"/>
            <a:ext cx="12192000" cy="372438"/>
          </a:xfrm>
          <a:prstGeom prst="rect">
            <a:avLst/>
          </a:prstGeom>
          <a:solidFill>
            <a:srgbClr val="513E35"/>
          </a:solidFill>
        </p:spPr>
        <p:txBody>
          <a:bodyPr wrap="square" rtlCol="0">
            <a:spAutoFit/>
          </a:bodyPr>
          <a:lstStyle/>
          <a:p>
            <a:endParaRPr lang="en-US" dirty="0">
              <a:ln>
                <a:solidFill>
                  <a:srgbClr val="335020"/>
                </a:solidFill>
              </a:ln>
              <a:solidFill>
                <a:srgbClr val="513E35"/>
              </a:solidFill>
            </a:endParaRPr>
          </a:p>
        </p:txBody>
      </p:sp>
      <p:sp>
        <p:nvSpPr>
          <p:cNvPr id="3" name="Rectangle 2"/>
          <p:cNvSpPr/>
          <p:nvPr/>
        </p:nvSpPr>
        <p:spPr>
          <a:xfrm>
            <a:off x="1297859" y="1852476"/>
            <a:ext cx="9576618" cy="3539430"/>
          </a:xfrm>
          <a:prstGeom prst="rect">
            <a:avLst/>
          </a:prstGeom>
        </p:spPr>
        <p:txBody>
          <a:bodyPr wrap="square">
            <a:spAutoFit/>
          </a:bodyPr>
          <a:lstStyle/>
          <a:p>
            <a:r>
              <a:rPr lang="en-US" sz="32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Vision</a:t>
            </a:r>
            <a:r>
              <a:rPr lang="en-US" sz="3200" b="1" i="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32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32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is a clear, prayer inspired picture of the future God has called the ministry to pursue</a:t>
            </a:r>
            <a:r>
              <a:rPr lang="en-US" sz="32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p>
          <a:p>
            <a:endParaRPr lang="en-US" sz="24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pPr marL="688975" indent="-463550">
              <a:buFont typeface="Arial" panose="020B0604020202020204" pitchFamily="34" charset="0"/>
              <a:buChar char="•"/>
              <a:tabLst>
                <a:tab pos="628650" algn="l"/>
                <a:tab pos="688975" algn="l"/>
              </a:tabLst>
            </a:pPr>
            <a:r>
              <a:rPr lang="en-US" sz="32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It provides direction, fosters unity, inspires commitment, guides decision-making, encourages </a:t>
            </a:r>
            <a:r>
              <a:rPr lang="en-US" sz="32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growth, </a:t>
            </a:r>
            <a:r>
              <a:rPr lang="en-US" sz="32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builds accountability, and strengthens our perseverance. </a:t>
            </a:r>
          </a:p>
        </p:txBody>
      </p:sp>
      <p:sp>
        <p:nvSpPr>
          <p:cNvPr id="2" name="Rectangle 1"/>
          <p:cNvSpPr/>
          <p:nvPr/>
        </p:nvSpPr>
        <p:spPr>
          <a:xfrm>
            <a:off x="2850838" y="5553596"/>
            <a:ext cx="7138736" cy="400110"/>
          </a:xfrm>
          <a:prstGeom prst="rect">
            <a:avLst/>
          </a:prstGeom>
        </p:spPr>
        <p:txBody>
          <a:bodyPr wrap="square">
            <a:spAutoFit/>
          </a:bodyPr>
          <a:lstStyle/>
          <a:p>
            <a:pPr marL="230187"/>
            <a:r>
              <a:rPr lang="en-US" sz="2000" b="1" i="1" dirty="0" smtClean="0">
                <a:solidFill>
                  <a:srgbClr val="A5300F"/>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Where </a:t>
            </a:r>
            <a:r>
              <a:rPr lang="en-US" sz="2000" b="1" i="1" dirty="0">
                <a:solidFill>
                  <a:srgbClr val="A5300F"/>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there is no vision, the people perish</a:t>
            </a:r>
            <a:r>
              <a:rPr lang="en-US" sz="2000" b="1" i="1" dirty="0" smtClean="0">
                <a:solidFill>
                  <a:srgbClr val="A5300F"/>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2000" b="1" i="1" dirty="0">
                <a:solidFill>
                  <a:srgbClr val="A5300F"/>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2000" b="1" i="1" dirty="0" smtClean="0">
                <a:solidFill>
                  <a:srgbClr val="A5300F"/>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Prov. 29:18</a:t>
            </a:r>
            <a:endParaRPr lang="en-US" sz="2000" b="1" i="1" dirty="0">
              <a:solidFill>
                <a:srgbClr val="A5300F"/>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415243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1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animEffect transition="in" filter="wipe(left)">
                                      <p:cBhvr>
                                        <p:cTn id="17" dur="10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5" name="Title 1"/>
          <p:cNvSpPr txBox="1">
            <a:spLocks/>
          </p:cNvSpPr>
          <p:nvPr/>
        </p:nvSpPr>
        <p:spPr>
          <a:xfrm>
            <a:off x="1054725" y="149443"/>
            <a:ext cx="10690578" cy="1320322"/>
          </a:xfrm>
          <a:prstGeom prst="rect">
            <a:avLst/>
          </a:prstGeom>
          <a:noFill/>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spcAft>
                <a:spcPts val="300"/>
              </a:spcAft>
            </a:pPr>
            <a:r>
              <a:rPr lang="en-US" sz="5000" b="1" i="1" dirty="0">
                <a:solidFill>
                  <a:schemeClr val="accent5">
                    <a:lumMod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Faith – Focused </a:t>
            </a:r>
            <a:r>
              <a:rPr lang="en-US" sz="5000" b="1" i="1" dirty="0" smtClean="0">
                <a:solidFill>
                  <a:schemeClr val="accent5">
                    <a:lumMod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Forward             </a:t>
            </a:r>
          </a:p>
          <a:p>
            <a:pPr algn="ctr">
              <a:spcBef>
                <a:spcPts val="0"/>
              </a:spcBef>
              <a:spcAft>
                <a:spcPts val="300"/>
              </a:spcAft>
            </a:pPr>
            <a:r>
              <a:rPr lang="en-US" b="1" i="1" dirty="0" smtClean="0">
                <a:solidFill>
                  <a:schemeClr val="accent5">
                    <a:lumMod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Vision </a:t>
            </a:r>
            <a:endParaRPr lang="en-US" b="1" i="1" dirty="0">
              <a:solidFill>
                <a:schemeClr val="accent5">
                  <a:lumMod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10" name="TextBox 9"/>
          <p:cNvSpPr txBox="1"/>
          <p:nvPr/>
        </p:nvSpPr>
        <p:spPr>
          <a:xfrm>
            <a:off x="0" y="6485562"/>
            <a:ext cx="12192000" cy="372438"/>
          </a:xfrm>
          <a:prstGeom prst="rect">
            <a:avLst/>
          </a:prstGeom>
          <a:solidFill>
            <a:srgbClr val="3F3029"/>
          </a:solidFill>
        </p:spPr>
        <p:txBody>
          <a:bodyPr wrap="square" rtlCol="0">
            <a:spAutoFit/>
          </a:bodyPr>
          <a:lstStyle/>
          <a:p>
            <a:endParaRPr lang="en-US" dirty="0">
              <a:ln>
                <a:solidFill>
                  <a:srgbClr val="335020"/>
                </a:solidFill>
              </a:ln>
            </a:endParaRPr>
          </a:p>
        </p:txBody>
      </p:sp>
      <p:sp>
        <p:nvSpPr>
          <p:cNvPr id="3" name="Rectangle 2"/>
          <p:cNvSpPr/>
          <p:nvPr/>
        </p:nvSpPr>
        <p:spPr>
          <a:xfrm>
            <a:off x="1743564" y="1714690"/>
            <a:ext cx="8704869" cy="4524315"/>
          </a:xfrm>
          <a:prstGeom prst="rect">
            <a:avLst/>
          </a:prstGeom>
        </p:spPr>
        <p:txBody>
          <a:bodyPr wrap="square">
            <a:spAutoFit/>
          </a:bodyPr>
          <a:lstStyle/>
          <a:p>
            <a:pPr algn="ctr"/>
            <a:r>
              <a:rPr lang="en-US" sz="3600" b="1" i="1" dirty="0" smtClean="0">
                <a:solidFill>
                  <a:schemeClr val="accent5">
                    <a:lumMod val="50000"/>
                  </a:schemeClr>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Vision </a:t>
            </a:r>
            <a:r>
              <a:rPr lang="en-US" sz="3600" b="1" i="1" dirty="0">
                <a:solidFill>
                  <a:schemeClr val="accent5">
                    <a:lumMod val="50000"/>
                  </a:schemeClr>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sets </a:t>
            </a:r>
            <a:r>
              <a:rPr lang="en-US" sz="3600" b="1" i="1" dirty="0" smtClean="0">
                <a:solidFill>
                  <a:schemeClr val="accent5">
                    <a:lumMod val="50000"/>
                  </a:schemeClr>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You </a:t>
            </a:r>
            <a:r>
              <a:rPr lang="en-US" sz="3600" b="1" i="1" dirty="0">
                <a:solidFill>
                  <a:schemeClr val="accent5">
                    <a:lumMod val="50000"/>
                  </a:schemeClr>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free </a:t>
            </a:r>
            <a:r>
              <a:rPr lang="en-US" sz="3600" b="1" i="1" dirty="0" smtClean="0">
                <a:solidFill>
                  <a:schemeClr val="accent5">
                    <a:lumMod val="50000"/>
                  </a:schemeClr>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from </a:t>
            </a:r>
          </a:p>
          <a:p>
            <a:pPr algn="ctr"/>
            <a:r>
              <a:rPr lang="en-US" sz="3600" b="1" i="1" dirty="0" smtClean="0">
                <a:solidFill>
                  <a:schemeClr val="accent5">
                    <a:lumMod val="50000"/>
                  </a:schemeClr>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the Limitations </a:t>
            </a:r>
          </a:p>
          <a:p>
            <a:pPr algn="ctr"/>
            <a:r>
              <a:rPr lang="en-US" sz="3600" b="1" i="1" dirty="0" smtClean="0">
                <a:solidFill>
                  <a:schemeClr val="accent5">
                    <a:lumMod val="50000"/>
                  </a:schemeClr>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of </a:t>
            </a:r>
          </a:p>
          <a:p>
            <a:pPr algn="ctr"/>
            <a:r>
              <a:rPr lang="en-US" sz="3600" b="1" i="1" dirty="0" smtClean="0">
                <a:solidFill>
                  <a:schemeClr val="accent5">
                    <a:lumMod val="50000"/>
                  </a:schemeClr>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What the eyes see and allows </a:t>
            </a:r>
          </a:p>
          <a:p>
            <a:pPr algn="ctr"/>
            <a:r>
              <a:rPr lang="en-US" sz="3600" b="1" i="1" dirty="0" smtClean="0">
                <a:solidFill>
                  <a:schemeClr val="accent5">
                    <a:lumMod val="50000"/>
                  </a:schemeClr>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You to </a:t>
            </a:r>
          </a:p>
          <a:p>
            <a:pPr algn="ctr"/>
            <a:r>
              <a:rPr lang="en-US" sz="3600" b="1" i="1" dirty="0" smtClean="0">
                <a:solidFill>
                  <a:schemeClr val="accent5">
                    <a:lumMod val="50000"/>
                  </a:schemeClr>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Enter the Liberty </a:t>
            </a:r>
          </a:p>
          <a:p>
            <a:pPr algn="ctr"/>
            <a:r>
              <a:rPr lang="en-US" sz="3600" b="1" i="1" dirty="0" smtClean="0">
                <a:solidFill>
                  <a:schemeClr val="accent5">
                    <a:lumMod val="50000"/>
                  </a:schemeClr>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of </a:t>
            </a:r>
          </a:p>
          <a:p>
            <a:pPr algn="ctr"/>
            <a:r>
              <a:rPr lang="en-US" sz="3600" b="1" i="1" dirty="0" smtClean="0">
                <a:solidFill>
                  <a:schemeClr val="accent5">
                    <a:lumMod val="50000"/>
                  </a:schemeClr>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what the heart can feel”   </a:t>
            </a:r>
            <a:r>
              <a:rPr lang="en-US" b="1" i="1" dirty="0" smtClean="0">
                <a:solidFill>
                  <a:schemeClr val="accent5">
                    <a:lumMod val="50000"/>
                  </a:schemeClr>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b="1" i="1" dirty="0" smtClean="0">
                <a:solidFill>
                  <a:srgbClr val="C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Myles Munroe</a:t>
            </a:r>
            <a:endParaRPr lang="en-US" b="1" i="1" u="none" strike="noStrike" dirty="0">
              <a:solidFill>
                <a:srgbClr val="C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307828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10" name="TextBox 9"/>
          <p:cNvSpPr txBox="1"/>
          <p:nvPr/>
        </p:nvSpPr>
        <p:spPr>
          <a:xfrm>
            <a:off x="0" y="6585978"/>
            <a:ext cx="12192000" cy="372438"/>
          </a:xfrm>
          <a:prstGeom prst="rect">
            <a:avLst/>
          </a:prstGeom>
          <a:solidFill>
            <a:srgbClr val="513E35"/>
          </a:solidFill>
        </p:spPr>
        <p:txBody>
          <a:bodyPr wrap="square" rtlCol="0">
            <a:spAutoFit/>
          </a:bodyPr>
          <a:lstStyle/>
          <a:p>
            <a:endParaRPr lang="en-US" dirty="0">
              <a:ln>
                <a:solidFill>
                  <a:srgbClr val="335020"/>
                </a:solidFill>
              </a:ln>
              <a:solidFill>
                <a:schemeClr val="accent1"/>
              </a:solidFill>
            </a:endParaRPr>
          </a:p>
        </p:txBody>
      </p:sp>
      <p:sp>
        <p:nvSpPr>
          <p:cNvPr id="9" name="TextBox 8"/>
          <p:cNvSpPr txBox="1"/>
          <p:nvPr/>
        </p:nvSpPr>
        <p:spPr>
          <a:xfrm>
            <a:off x="1675762" y="2040858"/>
            <a:ext cx="9975767" cy="3323987"/>
          </a:xfrm>
          <a:prstGeom prst="rect">
            <a:avLst/>
          </a:prstGeom>
          <a:noFill/>
          <a:effectLst>
            <a:softEdge rad="31750"/>
          </a:effectLst>
        </p:spPr>
        <p:txBody>
          <a:bodyPr wrap="square" rtlCol="0">
            <a:spAutoFit/>
          </a:bodyPr>
          <a:lstStyle/>
          <a:p>
            <a:r>
              <a:rPr lang="en-US" sz="3000" b="1" u="sng" dirty="0" smtClean="0">
                <a:solidFill>
                  <a:srgbClr val="C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VISION</a:t>
            </a:r>
            <a:r>
              <a:rPr lang="en-US" sz="3000" b="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r>
              <a:rPr lang="en-US" sz="30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30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To be a Christ-centered, Spirit-empowered church where lives are transformed by the Gospel, believers are equipped for faithful service, families are strengthened by God's Word, our community is impacted by the love of Christ, and generations of disciples are nurtured through </a:t>
            </a:r>
            <a:r>
              <a:rPr lang="en-US" sz="3000" b="1" i="1" u="sng"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worship</a:t>
            </a:r>
            <a:r>
              <a:rPr lang="en-US" sz="30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3000" b="1" i="1" u="sng"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fellowship</a:t>
            </a:r>
            <a:r>
              <a:rPr lang="en-US" sz="30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3000" b="1" i="1" u="sng"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stewardship</a:t>
            </a:r>
            <a:r>
              <a:rPr lang="en-US" sz="30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and </a:t>
            </a:r>
            <a:r>
              <a:rPr lang="en-US" sz="3000" b="1" i="1" u="sng"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discipleship</a:t>
            </a:r>
            <a:r>
              <a:rPr lang="en-US" sz="30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as we expand </a:t>
            </a:r>
            <a:r>
              <a:rPr lang="en-US" sz="30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the ministry </a:t>
            </a:r>
            <a:r>
              <a:rPr lang="en-US" sz="30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for the glory of God.</a:t>
            </a:r>
          </a:p>
        </p:txBody>
      </p:sp>
      <p:sp>
        <p:nvSpPr>
          <p:cNvPr id="8" name="Title 1"/>
          <p:cNvSpPr txBox="1">
            <a:spLocks/>
          </p:cNvSpPr>
          <p:nvPr/>
        </p:nvSpPr>
        <p:spPr>
          <a:xfrm>
            <a:off x="822779" y="426256"/>
            <a:ext cx="10690578" cy="1320322"/>
          </a:xfrm>
          <a:prstGeom prst="rect">
            <a:avLst/>
          </a:prstGeom>
          <a:noFill/>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600"/>
              </a:spcBef>
              <a:spcAft>
                <a:spcPts val="600"/>
              </a:spcAft>
            </a:pPr>
            <a:r>
              <a:rPr lang="en-US" sz="50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Faith – Focused </a:t>
            </a:r>
            <a:r>
              <a:rPr lang="en-US" sz="50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Forward             </a:t>
            </a:r>
          </a:p>
          <a:p>
            <a:pPr algn="ctr">
              <a:spcBef>
                <a:spcPts val="600"/>
              </a:spcBef>
              <a:spcAft>
                <a:spcPts val="600"/>
              </a:spcAft>
            </a:pPr>
            <a:r>
              <a:rPr lang="en-US"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EBC Vision Recast</a:t>
            </a:r>
            <a:endParaRPr lang="en-US"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903630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 y="-26034"/>
            <a:ext cx="12191999" cy="6858000"/>
          </a:xfrm>
          <a:prstGeom prst="rect">
            <a:avLst/>
          </a:prstGeom>
        </p:spPr>
      </p:pic>
      <p:sp>
        <p:nvSpPr>
          <p:cNvPr id="10" name="TextBox 9"/>
          <p:cNvSpPr txBox="1"/>
          <p:nvPr/>
        </p:nvSpPr>
        <p:spPr>
          <a:xfrm>
            <a:off x="0" y="6585978"/>
            <a:ext cx="12192000" cy="372438"/>
          </a:xfrm>
          <a:prstGeom prst="rect">
            <a:avLst/>
          </a:prstGeom>
          <a:solidFill>
            <a:srgbClr val="513E35"/>
          </a:solidFill>
        </p:spPr>
        <p:txBody>
          <a:bodyPr wrap="square" rtlCol="0">
            <a:spAutoFit/>
          </a:bodyPr>
          <a:lstStyle/>
          <a:p>
            <a:endParaRPr lang="en-US" dirty="0">
              <a:ln>
                <a:solidFill>
                  <a:srgbClr val="335020"/>
                </a:solidFill>
              </a:ln>
              <a:solidFill>
                <a:schemeClr val="accent1"/>
              </a:solidFill>
            </a:endParaRPr>
          </a:p>
        </p:txBody>
      </p:sp>
      <p:sp>
        <p:nvSpPr>
          <p:cNvPr id="9" name="TextBox 8"/>
          <p:cNvSpPr txBox="1"/>
          <p:nvPr/>
        </p:nvSpPr>
        <p:spPr>
          <a:xfrm>
            <a:off x="1201445" y="1634044"/>
            <a:ext cx="10553780" cy="4708981"/>
          </a:xfrm>
          <a:prstGeom prst="rect">
            <a:avLst/>
          </a:prstGeom>
          <a:noFill/>
          <a:effectLst>
            <a:softEdge rad="31750"/>
          </a:effectLst>
        </p:spPr>
        <p:txBody>
          <a:bodyPr wrap="square" rtlCol="0">
            <a:spAutoFit/>
          </a:bodyPr>
          <a:lstStyle/>
          <a:p>
            <a:r>
              <a:rPr lang="en-US" sz="3000" b="1" u="sng" dirty="0" smtClean="0">
                <a:solidFill>
                  <a:srgbClr val="A5300F"/>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MISSION:</a:t>
            </a:r>
            <a:r>
              <a:rPr lang="en-US" sz="3000" b="1" dirty="0" smtClean="0">
                <a:solidFill>
                  <a:srgbClr val="A5300F"/>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3000" b="1" dirty="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The mission of Ebenezer Baptist Church is to glorify God by preaching and teaching the Gospel of Jesus Christ with such clarity and conviction that it reaches the youngest child, draws the greatest sinner, and challenges the most devoted saint to trust and obey Christ.  We are committed to making faithful disciples through biblical teaching, authentic worship, Christ-centered fellowship, faithful stewardship, and compassionate service, while strengthening families, equipping men and women for ministry, nurturing children, and youth, and impacting our community for the glory of God until Christ returns.</a:t>
            </a:r>
          </a:p>
        </p:txBody>
      </p:sp>
      <p:sp>
        <p:nvSpPr>
          <p:cNvPr id="6" name="Title 1"/>
          <p:cNvSpPr txBox="1">
            <a:spLocks/>
          </p:cNvSpPr>
          <p:nvPr/>
        </p:nvSpPr>
        <p:spPr>
          <a:xfrm>
            <a:off x="887949" y="259603"/>
            <a:ext cx="10690578" cy="1320322"/>
          </a:xfrm>
          <a:prstGeom prst="rect">
            <a:avLst/>
          </a:prstGeom>
          <a:noFill/>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600"/>
              </a:spcBef>
              <a:spcAft>
                <a:spcPts val="600"/>
              </a:spcAft>
            </a:pPr>
            <a:r>
              <a:rPr lang="en-US" sz="50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Faith – Focused </a:t>
            </a:r>
            <a:r>
              <a:rPr lang="en-US" sz="50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Forward             </a:t>
            </a:r>
          </a:p>
          <a:p>
            <a:pPr algn="ctr">
              <a:spcBef>
                <a:spcPts val="600"/>
              </a:spcBef>
              <a:spcAft>
                <a:spcPts val="600"/>
              </a:spcAft>
            </a:pPr>
            <a:r>
              <a:rPr lang="en-US"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EBC Vision Recast</a:t>
            </a:r>
            <a:endParaRPr lang="en-US"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512355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10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10" name="TextBox 9"/>
          <p:cNvSpPr txBox="1"/>
          <p:nvPr/>
        </p:nvSpPr>
        <p:spPr>
          <a:xfrm>
            <a:off x="0" y="6585978"/>
            <a:ext cx="12192000" cy="372438"/>
          </a:xfrm>
          <a:prstGeom prst="rect">
            <a:avLst/>
          </a:prstGeom>
          <a:solidFill>
            <a:srgbClr val="513E35"/>
          </a:solidFill>
        </p:spPr>
        <p:txBody>
          <a:bodyPr wrap="square" rtlCol="0">
            <a:spAutoFit/>
          </a:bodyPr>
          <a:lstStyle/>
          <a:p>
            <a:endParaRPr lang="en-US" dirty="0">
              <a:ln>
                <a:solidFill>
                  <a:srgbClr val="335020"/>
                </a:solidFill>
              </a:ln>
              <a:solidFill>
                <a:schemeClr val="accent1"/>
              </a:solidFill>
            </a:endParaRPr>
          </a:p>
        </p:txBody>
      </p:sp>
      <p:sp>
        <p:nvSpPr>
          <p:cNvPr id="9" name="TextBox 8"/>
          <p:cNvSpPr txBox="1"/>
          <p:nvPr/>
        </p:nvSpPr>
        <p:spPr>
          <a:xfrm>
            <a:off x="1038713" y="1904120"/>
            <a:ext cx="10258709" cy="3785652"/>
          </a:xfrm>
          <a:prstGeom prst="rect">
            <a:avLst/>
          </a:prstGeom>
          <a:noFill/>
          <a:effectLst>
            <a:softEdge rad="31750"/>
          </a:effectLst>
        </p:spPr>
        <p:txBody>
          <a:bodyPr wrap="square" rtlCol="0">
            <a:spAutoFit/>
          </a:bodyPr>
          <a:lstStyle/>
          <a:p>
            <a:pPr algn="just"/>
            <a:r>
              <a:rPr lang="en-US" sz="3000" b="1" u="sng" dirty="0" smtClean="0">
                <a:solidFill>
                  <a:srgbClr val="A5300F"/>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PURPOSE:</a:t>
            </a:r>
            <a:r>
              <a:rPr lang="en-US" sz="3000" b="1" dirty="0" smtClean="0">
                <a:solidFill>
                  <a:srgbClr val="A5300F"/>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30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Ebenezer Baptist Church exists to glorify God by walking in faith, obeying His Word, and fulfilling the work He has assigned to us: to build up the Body of Christ, to expand our capacity for ministry through service, to strengthen families through biblical discipleship, and to serve as a beacon of hope in a culture increasingly hostile to faith.  Empowered by the Holy Spirit, we commit to labor without retreat until the vision God has given becomes reality.</a:t>
            </a:r>
            <a:endParaRPr lang="en-US" sz="30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p:txBody>
      </p:sp>
      <p:sp>
        <p:nvSpPr>
          <p:cNvPr id="6" name="Title 1"/>
          <p:cNvSpPr txBox="1">
            <a:spLocks/>
          </p:cNvSpPr>
          <p:nvPr/>
        </p:nvSpPr>
        <p:spPr>
          <a:xfrm>
            <a:off x="822779" y="426256"/>
            <a:ext cx="10690578" cy="1320322"/>
          </a:xfrm>
          <a:prstGeom prst="rect">
            <a:avLst/>
          </a:prstGeom>
          <a:noFill/>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600"/>
              </a:spcBef>
              <a:spcAft>
                <a:spcPts val="600"/>
              </a:spcAft>
            </a:pPr>
            <a:r>
              <a:rPr lang="en-US" sz="50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Faith – Focused </a:t>
            </a:r>
            <a:r>
              <a:rPr lang="en-US" sz="50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Forward             </a:t>
            </a:r>
          </a:p>
          <a:p>
            <a:pPr algn="ctr">
              <a:spcBef>
                <a:spcPts val="600"/>
              </a:spcBef>
              <a:spcAft>
                <a:spcPts val="600"/>
              </a:spcAft>
            </a:pPr>
            <a:r>
              <a:rPr lang="en-US"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EBC Vision Recast</a:t>
            </a:r>
            <a:endParaRPr lang="en-US"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907738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 y="-188170"/>
            <a:ext cx="12191999" cy="6858000"/>
          </a:xfrm>
          <a:prstGeom prst="rect">
            <a:avLst/>
          </a:prstGeom>
        </p:spPr>
      </p:pic>
      <p:sp>
        <p:nvSpPr>
          <p:cNvPr id="5" name="Title 1"/>
          <p:cNvSpPr txBox="1">
            <a:spLocks/>
          </p:cNvSpPr>
          <p:nvPr/>
        </p:nvSpPr>
        <p:spPr>
          <a:xfrm>
            <a:off x="937676" y="267988"/>
            <a:ext cx="10690578" cy="1320322"/>
          </a:xfrm>
          <a:prstGeom prst="rect">
            <a:avLst/>
          </a:prstGeom>
          <a:noFill/>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600"/>
              </a:spcBef>
              <a:spcAft>
                <a:spcPts val="600"/>
              </a:spcAft>
            </a:pPr>
            <a:r>
              <a:rPr lang="en-US" sz="50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Faith – Focused </a:t>
            </a:r>
            <a:r>
              <a:rPr lang="en-US" sz="50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Forward             </a:t>
            </a:r>
          </a:p>
          <a:p>
            <a:pPr algn="ctr">
              <a:spcBef>
                <a:spcPts val="600"/>
              </a:spcBef>
              <a:spcAft>
                <a:spcPts val="600"/>
              </a:spcAft>
            </a:pPr>
            <a:r>
              <a:rPr lang="en-US"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Times New Roman" panose="02020603050405020304" pitchFamily="18" charset="0"/>
              </a:rPr>
              <a:t>Actionable </a:t>
            </a:r>
            <a:r>
              <a:rPr lang="en-US"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Times New Roman" panose="02020603050405020304" pitchFamily="18" charset="0"/>
              </a:rPr>
              <a:t>Objectives</a:t>
            </a:r>
            <a:endParaRPr lang="en-US"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10" name="TextBox 9"/>
          <p:cNvSpPr txBox="1"/>
          <p:nvPr/>
        </p:nvSpPr>
        <p:spPr>
          <a:xfrm>
            <a:off x="0" y="6585978"/>
            <a:ext cx="12192000" cy="372438"/>
          </a:xfrm>
          <a:prstGeom prst="rect">
            <a:avLst/>
          </a:prstGeom>
          <a:solidFill>
            <a:srgbClr val="513E35"/>
          </a:solidFill>
        </p:spPr>
        <p:txBody>
          <a:bodyPr wrap="square" rtlCol="0">
            <a:spAutoFit/>
          </a:bodyPr>
          <a:lstStyle/>
          <a:p>
            <a:endParaRPr lang="en-US" dirty="0">
              <a:ln>
                <a:solidFill>
                  <a:srgbClr val="335020"/>
                </a:solidFill>
              </a:ln>
              <a:solidFill>
                <a:srgbClr val="005828"/>
              </a:solidFill>
            </a:endParaRPr>
          </a:p>
        </p:txBody>
      </p:sp>
      <p:sp>
        <p:nvSpPr>
          <p:cNvPr id="3" name="Rectangle 2"/>
          <p:cNvSpPr/>
          <p:nvPr/>
        </p:nvSpPr>
        <p:spPr>
          <a:xfrm>
            <a:off x="641022" y="1588310"/>
            <a:ext cx="11283884" cy="2000548"/>
          </a:xfrm>
          <a:prstGeom prst="rect">
            <a:avLst/>
          </a:prstGeom>
        </p:spPr>
        <p:txBody>
          <a:bodyPr wrap="square">
            <a:spAutoFit/>
          </a:bodyPr>
          <a:lstStyle/>
          <a:p>
            <a:pPr marL="514350" indent="-514350">
              <a:buAutoNum type="arabicPeriod"/>
            </a:pPr>
            <a:r>
              <a:rPr lang="en-US" sz="28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Preparing for Changing Technology and Culture</a:t>
            </a:r>
          </a:p>
          <a:p>
            <a:endParaRPr lang="en-US" sz="1200" dirty="0" smtClean="0">
              <a:solidFill>
                <a:srgbClr val="005828"/>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pPr marL="457200" lvl="0" indent="-230188">
              <a:buFont typeface="Arial" panose="020B0604020202020204" pitchFamily="34" charset="0"/>
              <a:buChar char="•"/>
            </a:pPr>
            <a:r>
              <a:rPr lang="en-US" sz="28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Action Item</a:t>
            </a:r>
            <a:r>
              <a:rPr lang="en-US" sz="28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r>
              <a:rPr lang="en-US" sz="28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Launch a “</a:t>
            </a:r>
            <a:r>
              <a:rPr lang="en-US" sz="28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Digital Ministry &amp; Innovation Team</a:t>
            </a:r>
            <a:r>
              <a:rPr lang="en-US" sz="28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to implement AI tools, improve online engagement, and expand discipleship through technology-based platforms</a:t>
            </a:r>
            <a:r>
              <a:rPr lang="en-US" sz="2800" dirty="0" smtClean="0">
                <a:solidFill>
                  <a:srgbClr val="513E35"/>
                </a:solidFill>
                <a:latin typeface="Cambria Math" panose="02040503050406030204" pitchFamily="18" charset="0"/>
                <a:ea typeface="Cambria Math" panose="02040503050406030204" pitchFamily="18" charset="0"/>
              </a:rPr>
              <a:t>.</a:t>
            </a:r>
            <a:endParaRPr lang="en-US" sz="2800" dirty="0">
              <a:solidFill>
                <a:srgbClr val="513E35"/>
              </a:solidFill>
              <a:latin typeface="Cambria Math" panose="02040503050406030204" pitchFamily="18" charset="0"/>
              <a:ea typeface="Cambria Math" panose="02040503050406030204" pitchFamily="18" charset="0"/>
            </a:endParaRPr>
          </a:p>
        </p:txBody>
      </p:sp>
      <p:sp>
        <p:nvSpPr>
          <p:cNvPr id="6" name="Rectangle 5"/>
          <p:cNvSpPr/>
          <p:nvPr/>
        </p:nvSpPr>
        <p:spPr>
          <a:xfrm>
            <a:off x="565608" y="3789690"/>
            <a:ext cx="11434713" cy="2677656"/>
          </a:xfrm>
          <a:prstGeom prst="rect">
            <a:avLst/>
          </a:prstGeom>
        </p:spPr>
        <p:txBody>
          <a:bodyPr wrap="square">
            <a:spAutoFit/>
          </a:bodyPr>
          <a:lstStyle/>
          <a:p>
            <a:r>
              <a:rPr lang="en-US" sz="26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2. </a:t>
            </a:r>
            <a:r>
              <a:rPr lang="en-US" sz="26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Operational Process Improvements</a:t>
            </a:r>
            <a:endParaRPr lang="en-US" sz="26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endParaRPr lang="en-US" sz="1000" dirty="0" smtClean="0">
              <a:solidFill>
                <a:srgbClr val="005828"/>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pPr marL="457200" indent="-287338">
              <a:buFont typeface="Arial" panose="020B0604020202020204" pitchFamily="34" charset="0"/>
              <a:buChar char="•"/>
            </a:pPr>
            <a:r>
              <a:rPr lang="en-US" sz="26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Action Item</a:t>
            </a:r>
            <a:r>
              <a:rPr lang="en-US" sz="26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26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Implement a “</a:t>
            </a:r>
            <a:r>
              <a:rPr lang="en-US" sz="2600" b="1" i="1" u="sng"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Church Operations &amp; Engagement Initiative</a:t>
            </a:r>
            <a:r>
              <a:rPr lang="en-US" sz="26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26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to improve </a:t>
            </a:r>
            <a:r>
              <a:rPr lang="en-US" sz="26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the worship structure, strengthening member involvement, </a:t>
            </a:r>
            <a:r>
              <a:rPr lang="en-US" sz="26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develop next-generation </a:t>
            </a:r>
            <a:r>
              <a:rPr lang="en-US" sz="26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leadership pathways, </a:t>
            </a:r>
            <a:r>
              <a:rPr lang="en-US" sz="26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coordinate </a:t>
            </a:r>
            <a:r>
              <a:rPr lang="en-US" sz="26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targeted outreach to underserved, and disconnected </a:t>
            </a:r>
            <a:r>
              <a:rPr lang="en-US" sz="26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communities, </a:t>
            </a:r>
            <a:r>
              <a:rPr lang="en-US" sz="26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and regularly conducting a full ministry operational review to ensure organizational efficiencies</a:t>
            </a:r>
            <a:r>
              <a:rPr lang="en-US" sz="2800" dirty="0">
                <a:solidFill>
                  <a:srgbClr val="513E35"/>
                </a:solidFill>
                <a:effectLst>
                  <a:outerShdw blurRad="38100" dist="38100" dir="2700000" algn="tl">
                    <a:srgbClr val="000000">
                      <a:alpha val="43137"/>
                    </a:srgbClr>
                  </a:outerShdw>
                </a:effectLst>
              </a:rPr>
              <a:t>. </a:t>
            </a:r>
          </a:p>
        </p:txBody>
      </p:sp>
    </p:spTree>
    <p:extLst>
      <p:ext uri="{BB962C8B-B14F-4D97-AF65-F5344CB8AC3E}">
        <p14:creationId xmlns:p14="http://schemas.microsoft.com/office/powerpoint/2010/main" val="3434414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1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wipe(left)">
                                      <p:cBhvr>
                                        <p:cTn id="17" dur="10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wipe(left)">
                                      <p:cBhvr>
                                        <p:cTn id="22" dur="1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9426" y="0"/>
            <a:ext cx="12191999" cy="6858000"/>
          </a:xfrm>
          <a:prstGeom prst="rect">
            <a:avLst/>
          </a:prstGeom>
        </p:spPr>
      </p:pic>
      <p:sp>
        <p:nvSpPr>
          <p:cNvPr id="5" name="Title 1"/>
          <p:cNvSpPr txBox="1">
            <a:spLocks/>
          </p:cNvSpPr>
          <p:nvPr/>
        </p:nvSpPr>
        <p:spPr>
          <a:xfrm>
            <a:off x="1069651" y="184202"/>
            <a:ext cx="10690578" cy="1320322"/>
          </a:xfrm>
          <a:prstGeom prst="rect">
            <a:avLst/>
          </a:prstGeom>
          <a:noFill/>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600"/>
              </a:spcBef>
              <a:spcAft>
                <a:spcPts val="600"/>
              </a:spcAft>
            </a:pPr>
            <a:r>
              <a:rPr lang="en-US" sz="50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Faith – Focused </a:t>
            </a:r>
            <a:r>
              <a:rPr lang="en-US" sz="50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Forward             </a:t>
            </a:r>
          </a:p>
          <a:p>
            <a:pPr algn="ctr">
              <a:spcBef>
                <a:spcPts val="600"/>
              </a:spcBef>
              <a:spcAft>
                <a:spcPts val="600"/>
              </a:spcAft>
            </a:pPr>
            <a:r>
              <a:rPr lang="en-US"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Times New Roman" panose="02020603050405020304" pitchFamily="18" charset="0"/>
              </a:rPr>
              <a:t>Actionable Objectives</a:t>
            </a:r>
            <a:endParaRPr lang="en-US"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10" name="TextBox 9"/>
          <p:cNvSpPr txBox="1"/>
          <p:nvPr/>
        </p:nvSpPr>
        <p:spPr>
          <a:xfrm>
            <a:off x="0" y="6585978"/>
            <a:ext cx="12192000" cy="372438"/>
          </a:xfrm>
          <a:prstGeom prst="rect">
            <a:avLst/>
          </a:prstGeom>
          <a:solidFill>
            <a:srgbClr val="513E35"/>
          </a:solidFill>
        </p:spPr>
        <p:txBody>
          <a:bodyPr wrap="square" rtlCol="0">
            <a:spAutoFit/>
          </a:bodyPr>
          <a:lstStyle/>
          <a:p>
            <a:endParaRPr lang="en-US" dirty="0">
              <a:ln>
                <a:solidFill>
                  <a:srgbClr val="335020"/>
                </a:solidFill>
              </a:ln>
              <a:solidFill>
                <a:srgbClr val="005828"/>
              </a:solidFill>
            </a:endParaRPr>
          </a:p>
        </p:txBody>
      </p:sp>
      <p:sp>
        <p:nvSpPr>
          <p:cNvPr id="3" name="Rectangle 2"/>
          <p:cNvSpPr/>
          <p:nvPr/>
        </p:nvSpPr>
        <p:spPr>
          <a:xfrm>
            <a:off x="987432" y="1688726"/>
            <a:ext cx="10855016" cy="1969770"/>
          </a:xfrm>
          <a:prstGeom prst="rect">
            <a:avLst/>
          </a:prstGeom>
        </p:spPr>
        <p:txBody>
          <a:bodyPr wrap="square">
            <a:spAutoFit/>
          </a:bodyPr>
          <a:lstStyle/>
          <a:p>
            <a:r>
              <a:rPr lang="en-US" sz="28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3. New Revenue Streams and Funding </a:t>
            </a:r>
            <a:r>
              <a:rPr lang="en-US" sz="28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Models </a:t>
            </a:r>
            <a:endParaRPr lang="en-US" sz="28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endParaRPr lang="en-US" sz="1000" dirty="0" smtClean="0">
              <a:solidFill>
                <a:srgbClr val="005828"/>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pPr marL="457200" indent="-457200">
              <a:buFont typeface="Arial" panose="020B0604020202020204" pitchFamily="34" charset="0"/>
              <a:buChar char="•"/>
            </a:pPr>
            <a:r>
              <a:rPr lang="en-US" sz="28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Action </a:t>
            </a:r>
            <a:r>
              <a:rPr lang="en-US" sz="2800" b="1" i="1" u="sng"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Item</a:t>
            </a:r>
            <a:r>
              <a:rPr lang="en-US" sz="28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r>
              <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Create a “</a:t>
            </a:r>
            <a:r>
              <a:rPr lang="en-US" sz="2800" b="1" i="1" u="sng"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Kingdom Stewardship Task Force</a:t>
            </a:r>
            <a:r>
              <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to evaluate rental opportunities, community programs, and new giving initiatives.</a:t>
            </a:r>
          </a:p>
        </p:txBody>
      </p:sp>
      <p:sp>
        <p:nvSpPr>
          <p:cNvPr id="6" name="Rectangle 5"/>
          <p:cNvSpPr/>
          <p:nvPr/>
        </p:nvSpPr>
        <p:spPr>
          <a:xfrm>
            <a:off x="987432" y="3842698"/>
            <a:ext cx="10461725" cy="1969770"/>
          </a:xfrm>
          <a:prstGeom prst="rect">
            <a:avLst/>
          </a:prstGeom>
        </p:spPr>
        <p:txBody>
          <a:bodyPr wrap="square">
            <a:spAutoFit/>
          </a:bodyPr>
          <a:lstStyle/>
          <a:p>
            <a:r>
              <a:rPr lang="en-US" sz="28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4. Reaching Members in Physical and Virtual Spaces</a:t>
            </a:r>
            <a:endPar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endParaRPr lang="en-US" sz="1000" dirty="0" smtClean="0">
              <a:solidFill>
                <a:srgbClr val="005828"/>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pPr marL="457200" indent="-400050">
              <a:buFont typeface="Arial" panose="020B0604020202020204" pitchFamily="34" charset="0"/>
              <a:buChar char="•"/>
            </a:pPr>
            <a:r>
              <a:rPr lang="en-US" sz="28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Action Item</a:t>
            </a:r>
            <a:r>
              <a:rPr lang="en-US" sz="28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r>
              <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Develop an “</a:t>
            </a:r>
            <a:r>
              <a:rPr lang="en-US" sz="2800" b="1" i="1" u="sng"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E-Ministry &amp; Digital Campus</a:t>
            </a:r>
            <a:r>
              <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that includes livestream engagement, online discipleship groups, and coordinated member and visitor follow-up.</a:t>
            </a:r>
          </a:p>
        </p:txBody>
      </p:sp>
    </p:spTree>
    <p:extLst>
      <p:ext uri="{BB962C8B-B14F-4D97-AF65-F5344CB8AC3E}">
        <p14:creationId xmlns:p14="http://schemas.microsoft.com/office/powerpoint/2010/main" val="399193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1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wipe(left)">
                                      <p:cBhvr>
                                        <p:cTn id="17" dur="10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wipe(left)">
                                      <p:cBhvr>
                                        <p:cTn id="22" dur="1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9426" y="0"/>
            <a:ext cx="12191999" cy="6858000"/>
          </a:xfrm>
          <a:prstGeom prst="rect">
            <a:avLst/>
          </a:prstGeom>
        </p:spPr>
      </p:pic>
      <p:sp>
        <p:nvSpPr>
          <p:cNvPr id="5" name="Title 1"/>
          <p:cNvSpPr txBox="1">
            <a:spLocks/>
          </p:cNvSpPr>
          <p:nvPr/>
        </p:nvSpPr>
        <p:spPr>
          <a:xfrm>
            <a:off x="1069651" y="184202"/>
            <a:ext cx="10690578" cy="1320322"/>
          </a:xfrm>
          <a:prstGeom prst="rect">
            <a:avLst/>
          </a:prstGeom>
          <a:noFill/>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600"/>
              </a:spcBef>
              <a:spcAft>
                <a:spcPts val="600"/>
              </a:spcAft>
            </a:pPr>
            <a:r>
              <a:rPr lang="en-US" sz="50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Faith – Focused </a:t>
            </a:r>
            <a:r>
              <a:rPr lang="en-US" sz="50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Forward             </a:t>
            </a:r>
          </a:p>
          <a:p>
            <a:pPr algn="ctr">
              <a:spcBef>
                <a:spcPts val="600"/>
              </a:spcBef>
              <a:spcAft>
                <a:spcPts val="600"/>
              </a:spcAft>
            </a:pPr>
            <a:r>
              <a:rPr lang="en-US"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Times New Roman" panose="02020603050405020304" pitchFamily="18" charset="0"/>
              </a:rPr>
              <a:t>Actionable Objectives</a:t>
            </a:r>
            <a:endParaRPr lang="en-US"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10" name="TextBox 9"/>
          <p:cNvSpPr txBox="1"/>
          <p:nvPr/>
        </p:nvSpPr>
        <p:spPr>
          <a:xfrm>
            <a:off x="0" y="6585978"/>
            <a:ext cx="12192000" cy="372438"/>
          </a:xfrm>
          <a:prstGeom prst="rect">
            <a:avLst/>
          </a:prstGeom>
          <a:solidFill>
            <a:srgbClr val="513E35"/>
          </a:solidFill>
        </p:spPr>
        <p:txBody>
          <a:bodyPr wrap="square" rtlCol="0">
            <a:spAutoFit/>
          </a:bodyPr>
          <a:lstStyle/>
          <a:p>
            <a:endParaRPr lang="en-US" dirty="0">
              <a:ln>
                <a:solidFill>
                  <a:srgbClr val="335020"/>
                </a:solidFill>
              </a:ln>
              <a:solidFill>
                <a:srgbClr val="005828"/>
              </a:solidFill>
            </a:endParaRPr>
          </a:p>
        </p:txBody>
      </p:sp>
      <p:sp>
        <p:nvSpPr>
          <p:cNvPr id="3" name="Rectangle 2"/>
          <p:cNvSpPr/>
          <p:nvPr/>
        </p:nvSpPr>
        <p:spPr>
          <a:xfrm>
            <a:off x="938980" y="1690054"/>
            <a:ext cx="10580575" cy="1969770"/>
          </a:xfrm>
          <a:prstGeom prst="rect">
            <a:avLst/>
          </a:prstGeom>
        </p:spPr>
        <p:txBody>
          <a:bodyPr wrap="square">
            <a:spAutoFit/>
          </a:bodyPr>
          <a:lstStyle/>
          <a:p>
            <a:r>
              <a:rPr lang="en-US" sz="28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5. Updating Policies and </a:t>
            </a:r>
            <a:r>
              <a:rPr lang="en-US" sz="28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Procedures</a:t>
            </a:r>
          </a:p>
          <a:p>
            <a:endParaRPr lang="en-US" sz="1000" dirty="0">
              <a:solidFill>
                <a:srgbClr val="005828"/>
              </a:solidFill>
              <a:latin typeface="Cambria Math" panose="02040503050406030204" pitchFamily="18" charset="0"/>
              <a:ea typeface="Cambria Math" panose="02040503050406030204" pitchFamily="18" charset="0"/>
            </a:endParaRPr>
          </a:p>
          <a:p>
            <a:pPr marL="457200" lvl="0" indent="-457200">
              <a:buFont typeface="Arial" panose="020B0604020202020204" pitchFamily="34" charset="0"/>
              <a:buChar char="•"/>
            </a:pPr>
            <a:r>
              <a:rPr lang="en-US" sz="28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Action </a:t>
            </a:r>
            <a:r>
              <a:rPr lang="en-US" sz="2800" b="1" i="1" u="sng"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Item</a:t>
            </a:r>
            <a:r>
              <a:rPr lang="en-US" sz="28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r>
              <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Establish a </a:t>
            </a:r>
            <a:r>
              <a:rPr lang="en-US" sz="28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r>
              <a:rPr lang="en-US" sz="28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Constitutional </a:t>
            </a:r>
            <a:r>
              <a:rPr lang="en-US" sz="2800" b="1" i="1" u="sng"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&amp; Policy Review </a:t>
            </a:r>
            <a:r>
              <a:rPr lang="en-US" sz="28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Committee</a:t>
            </a:r>
            <a:r>
              <a:rPr lang="en-US" sz="2800" b="1" i="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28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to </a:t>
            </a:r>
            <a:r>
              <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update bylaws, SOPs, leadership policies, and digital resource access training.</a:t>
            </a:r>
          </a:p>
        </p:txBody>
      </p:sp>
      <p:sp>
        <p:nvSpPr>
          <p:cNvPr id="7" name="Rectangle 6"/>
          <p:cNvSpPr/>
          <p:nvPr/>
        </p:nvSpPr>
        <p:spPr>
          <a:xfrm>
            <a:off x="951828" y="3845354"/>
            <a:ext cx="10269490" cy="1969770"/>
          </a:xfrm>
          <a:prstGeom prst="rect">
            <a:avLst/>
          </a:prstGeom>
        </p:spPr>
        <p:txBody>
          <a:bodyPr wrap="square">
            <a:spAutoFit/>
          </a:bodyPr>
          <a:lstStyle/>
          <a:p>
            <a:r>
              <a:rPr lang="en-US" sz="28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6. Training for Staff and Ministry </a:t>
            </a:r>
            <a:r>
              <a:rPr lang="en-US" sz="28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Leaders</a:t>
            </a:r>
          </a:p>
          <a:p>
            <a:endParaRPr lang="en-US" sz="1000" dirty="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pPr marL="457200" lvl="0" indent="-400050">
              <a:buFont typeface="Arial" panose="020B0604020202020204" pitchFamily="34" charset="0"/>
              <a:buChar char="•"/>
            </a:pPr>
            <a:r>
              <a:rPr lang="en-US" sz="28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Action </a:t>
            </a:r>
            <a:r>
              <a:rPr lang="en-US" sz="2800" b="1" i="1" u="sng"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Item</a:t>
            </a:r>
            <a:r>
              <a:rPr lang="en-US" sz="28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r>
              <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Implement an annual </a:t>
            </a:r>
            <a:r>
              <a:rPr lang="en-US" sz="28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r>
              <a:rPr lang="en-US" sz="28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Leadership </a:t>
            </a:r>
            <a:r>
              <a:rPr lang="en-US" sz="2800" b="1" i="1" u="sng"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Development </a:t>
            </a:r>
            <a:r>
              <a:rPr lang="en-US" sz="28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Institute</a:t>
            </a:r>
            <a:r>
              <a:rPr lang="en-US" sz="2800" b="1" i="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r>
              <a:rPr lang="en-US" sz="28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focused on staff and servant leadership, mentoring, team building, and ministry care.</a:t>
            </a:r>
          </a:p>
        </p:txBody>
      </p:sp>
    </p:spTree>
    <p:extLst>
      <p:ext uri="{BB962C8B-B14F-4D97-AF65-F5344CB8AC3E}">
        <p14:creationId xmlns:p14="http://schemas.microsoft.com/office/powerpoint/2010/main" val="2775129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1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wipe(left)">
                                      <p:cBhvr>
                                        <p:cTn id="17" dur="10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wipe(left)">
                                      <p:cBhvr>
                                        <p:cTn id="22" dur="10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9426" y="0"/>
            <a:ext cx="12191999" cy="6858000"/>
          </a:xfrm>
          <a:prstGeom prst="rect">
            <a:avLst/>
          </a:prstGeom>
        </p:spPr>
      </p:pic>
      <p:sp>
        <p:nvSpPr>
          <p:cNvPr id="5" name="Title 1"/>
          <p:cNvSpPr txBox="1">
            <a:spLocks/>
          </p:cNvSpPr>
          <p:nvPr/>
        </p:nvSpPr>
        <p:spPr>
          <a:xfrm>
            <a:off x="1069651" y="184202"/>
            <a:ext cx="10690578" cy="1320322"/>
          </a:xfrm>
          <a:prstGeom prst="rect">
            <a:avLst/>
          </a:prstGeom>
          <a:noFill/>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600"/>
              </a:spcBef>
              <a:spcAft>
                <a:spcPts val="600"/>
              </a:spcAft>
            </a:pPr>
            <a:r>
              <a:rPr lang="en-US" sz="50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Faith – Focused </a:t>
            </a:r>
            <a:r>
              <a:rPr lang="en-US" sz="50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Forward             </a:t>
            </a:r>
          </a:p>
          <a:p>
            <a:pPr algn="ctr">
              <a:spcBef>
                <a:spcPts val="600"/>
              </a:spcBef>
              <a:spcAft>
                <a:spcPts val="600"/>
              </a:spcAft>
            </a:pPr>
            <a:r>
              <a:rPr lang="en-US"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Times New Roman" panose="02020603050405020304" pitchFamily="18" charset="0"/>
              </a:rPr>
              <a:t>Actionable Objectives</a:t>
            </a:r>
            <a:endParaRPr lang="en-US"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10" name="TextBox 9"/>
          <p:cNvSpPr txBox="1"/>
          <p:nvPr/>
        </p:nvSpPr>
        <p:spPr>
          <a:xfrm>
            <a:off x="0" y="6585978"/>
            <a:ext cx="12192000" cy="372438"/>
          </a:xfrm>
          <a:prstGeom prst="rect">
            <a:avLst/>
          </a:prstGeom>
          <a:solidFill>
            <a:srgbClr val="513E35"/>
          </a:solidFill>
        </p:spPr>
        <p:txBody>
          <a:bodyPr wrap="square" rtlCol="0">
            <a:spAutoFit/>
          </a:bodyPr>
          <a:lstStyle/>
          <a:p>
            <a:endParaRPr lang="en-US" dirty="0">
              <a:ln>
                <a:solidFill>
                  <a:srgbClr val="335020"/>
                </a:solidFill>
              </a:ln>
              <a:solidFill>
                <a:srgbClr val="005828"/>
              </a:solidFill>
            </a:endParaRPr>
          </a:p>
        </p:txBody>
      </p:sp>
      <p:sp>
        <p:nvSpPr>
          <p:cNvPr id="3" name="Rectangle 2"/>
          <p:cNvSpPr/>
          <p:nvPr/>
        </p:nvSpPr>
        <p:spPr>
          <a:xfrm>
            <a:off x="938980" y="1690054"/>
            <a:ext cx="10721977" cy="1969770"/>
          </a:xfrm>
          <a:prstGeom prst="rect">
            <a:avLst/>
          </a:prstGeom>
        </p:spPr>
        <p:txBody>
          <a:bodyPr wrap="square">
            <a:spAutoFit/>
          </a:bodyPr>
          <a:lstStyle/>
          <a:p>
            <a:r>
              <a:rPr lang="en-US" sz="28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7. Engaging Children, Youth, Young Adults, and </a:t>
            </a:r>
            <a:r>
              <a:rPr lang="en-US" sz="28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Families</a:t>
            </a:r>
            <a:endParaRPr lang="en-US" sz="28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endParaRPr lang="en-US" sz="1000" b="1" dirty="0">
              <a:solidFill>
                <a:srgbClr val="005828"/>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pPr marL="457200" lvl="0" indent="-457200">
              <a:buFont typeface="Arial" panose="020B0604020202020204" pitchFamily="34" charset="0"/>
              <a:buChar char="•"/>
            </a:pPr>
            <a:r>
              <a:rPr lang="en-US" sz="28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Action </a:t>
            </a:r>
            <a:r>
              <a:rPr lang="en-US" sz="2800" b="1" i="1" u="sng"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Item</a:t>
            </a:r>
            <a:r>
              <a:rPr lang="en-US" sz="28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r>
              <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Launch a comprehensive </a:t>
            </a:r>
            <a:r>
              <a:rPr lang="en-US" sz="28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r>
              <a:rPr lang="en-US" sz="28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Youth </a:t>
            </a:r>
            <a:r>
              <a:rPr lang="en-US" sz="2800" b="1" i="1" u="sng"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&amp; Family Engagement </a:t>
            </a:r>
            <a:r>
              <a:rPr lang="en-US" sz="28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Initiative</a:t>
            </a:r>
            <a:r>
              <a:rPr lang="en-US" sz="2800" b="1" i="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28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that </a:t>
            </a:r>
            <a:r>
              <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includes mentorship, youth leadership opportunities, family ministries, and targeted outreach.</a:t>
            </a:r>
          </a:p>
        </p:txBody>
      </p:sp>
      <p:sp>
        <p:nvSpPr>
          <p:cNvPr id="6" name="Rectangle 5"/>
          <p:cNvSpPr/>
          <p:nvPr/>
        </p:nvSpPr>
        <p:spPr>
          <a:xfrm>
            <a:off x="938980" y="3825718"/>
            <a:ext cx="10580575" cy="2400657"/>
          </a:xfrm>
          <a:prstGeom prst="rect">
            <a:avLst/>
          </a:prstGeom>
        </p:spPr>
        <p:txBody>
          <a:bodyPr wrap="square">
            <a:spAutoFit/>
          </a:bodyPr>
          <a:lstStyle/>
          <a:p>
            <a:r>
              <a:rPr lang="en-US" sz="28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8. Ensuring Ministry Thrives for the Next </a:t>
            </a:r>
            <a:r>
              <a:rPr lang="en-US" sz="28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Generation</a:t>
            </a:r>
            <a:endParaRPr lang="en-US" sz="28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endParaRPr lang="en-US" sz="1000" b="1" dirty="0">
              <a:solidFill>
                <a:srgbClr val="005828"/>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pPr marL="457200" lvl="0" indent="-400050">
              <a:buFont typeface="Arial" panose="020B0604020202020204" pitchFamily="34" charset="0"/>
              <a:buChar char="•"/>
            </a:pPr>
            <a:r>
              <a:rPr lang="en-US" sz="28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Action </a:t>
            </a:r>
            <a:r>
              <a:rPr lang="en-US" sz="2800" b="1" i="1" u="sng"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Item</a:t>
            </a:r>
            <a:r>
              <a:rPr lang="en-US" sz="28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r>
              <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Create a </a:t>
            </a:r>
            <a:r>
              <a:rPr lang="en-US" sz="28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r>
              <a:rPr lang="en-US" sz="28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Next </a:t>
            </a:r>
            <a:r>
              <a:rPr lang="en-US" sz="2800" b="1" i="1" u="sng"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Generation Ministry Strategy</a:t>
            </a:r>
            <a:r>
              <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that focuses on mentorship, inclusivity, life-stage ministries, outreach, and leadership succession planning</a:t>
            </a:r>
            <a:r>
              <a:rPr lang="en-US" sz="28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p>
          <a:p>
            <a:pPr lvl="0"/>
            <a:endParaRPr lang="en-US" sz="2800" dirty="0">
              <a:solidFill>
                <a:srgbClr val="005828"/>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19465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1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wipe(left)">
                                      <p:cBhvr>
                                        <p:cTn id="17" dur="10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wipe(left)">
                                      <p:cBhvr>
                                        <p:cTn id="22" dur="1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9426" y="0"/>
            <a:ext cx="12191999" cy="6858000"/>
          </a:xfrm>
          <a:prstGeom prst="rect">
            <a:avLst/>
          </a:prstGeom>
        </p:spPr>
      </p:pic>
      <p:sp>
        <p:nvSpPr>
          <p:cNvPr id="5" name="Title 1"/>
          <p:cNvSpPr txBox="1">
            <a:spLocks/>
          </p:cNvSpPr>
          <p:nvPr/>
        </p:nvSpPr>
        <p:spPr>
          <a:xfrm>
            <a:off x="1069651" y="184202"/>
            <a:ext cx="10690578" cy="1320322"/>
          </a:xfrm>
          <a:prstGeom prst="rect">
            <a:avLst/>
          </a:prstGeom>
          <a:noFill/>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600"/>
              </a:spcBef>
              <a:spcAft>
                <a:spcPts val="600"/>
              </a:spcAft>
            </a:pPr>
            <a:r>
              <a:rPr lang="en-US" sz="50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Faith – Focused </a:t>
            </a:r>
            <a:r>
              <a:rPr lang="en-US" sz="50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Forward             </a:t>
            </a:r>
          </a:p>
          <a:p>
            <a:pPr algn="ctr">
              <a:spcBef>
                <a:spcPts val="600"/>
              </a:spcBef>
              <a:spcAft>
                <a:spcPts val="600"/>
              </a:spcAft>
            </a:pPr>
            <a:r>
              <a:rPr lang="en-US"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Times New Roman" panose="02020603050405020304" pitchFamily="18" charset="0"/>
              </a:rPr>
              <a:t>Actionable Objectives</a:t>
            </a:r>
            <a:endParaRPr lang="en-US"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10" name="TextBox 9"/>
          <p:cNvSpPr txBox="1"/>
          <p:nvPr/>
        </p:nvSpPr>
        <p:spPr>
          <a:xfrm>
            <a:off x="0" y="6585978"/>
            <a:ext cx="12192000" cy="372438"/>
          </a:xfrm>
          <a:prstGeom prst="rect">
            <a:avLst/>
          </a:prstGeom>
          <a:solidFill>
            <a:srgbClr val="513E35"/>
          </a:solidFill>
        </p:spPr>
        <p:txBody>
          <a:bodyPr wrap="square" rtlCol="0">
            <a:spAutoFit/>
          </a:bodyPr>
          <a:lstStyle/>
          <a:p>
            <a:endParaRPr lang="en-US" dirty="0">
              <a:ln>
                <a:solidFill>
                  <a:srgbClr val="335020"/>
                </a:solidFill>
              </a:ln>
              <a:solidFill>
                <a:srgbClr val="005828"/>
              </a:solidFill>
            </a:endParaRPr>
          </a:p>
        </p:txBody>
      </p:sp>
      <p:sp>
        <p:nvSpPr>
          <p:cNvPr id="3" name="Rectangle 2"/>
          <p:cNvSpPr/>
          <p:nvPr/>
        </p:nvSpPr>
        <p:spPr>
          <a:xfrm>
            <a:off x="938979" y="1631732"/>
            <a:ext cx="10580575" cy="1969770"/>
          </a:xfrm>
          <a:prstGeom prst="rect">
            <a:avLst/>
          </a:prstGeom>
        </p:spPr>
        <p:txBody>
          <a:bodyPr wrap="square">
            <a:spAutoFit/>
          </a:bodyPr>
          <a:lstStyle/>
          <a:p>
            <a:r>
              <a:rPr lang="en-US" sz="28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9. Addressing Social, Political, and Economic </a:t>
            </a:r>
            <a:r>
              <a:rPr lang="en-US" sz="28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Challenges</a:t>
            </a:r>
            <a:endParaRPr lang="en-US" sz="28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endParaRPr lang="en-US" sz="1000" b="1" dirty="0">
              <a:solidFill>
                <a:srgbClr val="005828"/>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pPr marL="457200" lvl="0" indent="-400050">
              <a:buFont typeface="Arial" panose="020B0604020202020204" pitchFamily="34" charset="0"/>
              <a:buChar char="•"/>
            </a:pPr>
            <a:r>
              <a:rPr lang="en-US" sz="28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Action </a:t>
            </a:r>
            <a:r>
              <a:rPr lang="en-US" sz="2800" b="1" i="1" u="sng"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Item</a:t>
            </a:r>
            <a:r>
              <a:rPr lang="en-US" sz="28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r>
              <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Form a </a:t>
            </a:r>
            <a:r>
              <a:rPr lang="en-US" sz="28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r>
              <a:rPr lang="en-US" sz="28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Media </a:t>
            </a:r>
            <a:r>
              <a:rPr lang="en-US" sz="2800" b="1" i="1" u="sng"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&amp; Community Outreach </a:t>
            </a:r>
            <a:r>
              <a:rPr lang="en-US" sz="28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Team</a:t>
            </a:r>
            <a:r>
              <a:rPr lang="en-US" sz="2800" b="1" i="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28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to </a:t>
            </a:r>
            <a:r>
              <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produce weekly reels, promote ministries online, and coordinate neighborhood evangelism initiatives.</a:t>
            </a:r>
          </a:p>
        </p:txBody>
      </p:sp>
      <p:sp>
        <p:nvSpPr>
          <p:cNvPr id="6" name="Rectangle 5"/>
          <p:cNvSpPr/>
          <p:nvPr/>
        </p:nvSpPr>
        <p:spPr>
          <a:xfrm>
            <a:off x="938979" y="3930395"/>
            <a:ext cx="10580575" cy="1969770"/>
          </a:xfrm>
          <a:prstGeom prst="rect">
            <a:avLst/>
          </a:prstGeom>
        </p:spPr>
        <p:txBody>
          <a:bodyPr wrap="square">
            <a:spAutoFit/>
          </a:bodyPr>
          <a:lstStyle/>
          <a:p>
            <a:r>
              <a:rPr lang="en-US" sz="28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10. Addressing Emerging Spiritual </a:t>
            </a:r>
            <a:r>
              <a:rPr lang="en-US" sz="28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Needs</a:t>
            </a:r>
          </a:p>
          <a:p>
            <a:endParaRPr lang="en-US" sz="1000" dirty="0">
              <a:solidFill>
                <a:srgbClr val="005828"/>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pPr marL="461963" lvl="0" indent="-344488">
              <a:buFont typeface="Arial" panose="020B0604020202020204" pitchFamily="34" charset="0"/>
              <a:buChar char="•"/>
            </a:pPr>
            <a:r>
              <a:rPr lang="en-US" sz="28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Action </a:t>
            </a:r>
            <a:r>
              <a:rPr lang="en-US" sz="2800" b="1" i="1" u="sng"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Item</a:t>
            </a:r>
            <a:r>
              <a:rPr lang="en-US" sz="28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r>
              <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Develop a church-wide </a:t>
            </a:r>
            <a:r>
              <a:rPr lang="en-US" sz="28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r>
              <a:rPr lang="en-US" sz="28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Spiritual </a:t>
            </a:r>
            <a:r>
              <a:rPr lang="en-US" sz="2800" b="1" i="1" u="sng"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Growth &amp; Leadership </a:t>
            </a:r>
            <a:r>
              <a:rPr lang="en-US" sz="2800" b="1" i="1" u="sng"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Pathway</a:t>
            </a:r>
            <a:r>
              <a:rPr lang="en-US" sz="28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r>
              <a:rPr lang="en-US" sz="28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that includes prayer training, mentoring programs, discipleship groups, and leadership onboarding</a:t>
            </a:r>
            <a:r>
              <a:rPr lang="en-US" sz="2800" dirty="0">
                <a:solidFill>
                  <a:srgbClr val="513E35"/>
                </a:solidFill>
              </a:rPr>
              <a:t>.</a:t>
            </a:r>
          </a:p>
        </p:txBody>
      </p:sp>
    </p:spTree>
    <p:extLst>
      <p:ext uri="{BB962C8B-B14F-4D97-AF65-F5344CB8AC3E}">
        <p14:creationId xmlns:p14="http://schemas.microsoft.com/office/powerpoint/2010/main" val="3649172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1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wipe(left)">
                                      <p:cBhvr>
                                        <p:cTn id="17" dur="10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wipe(left)">
                                      <p:cBhvr>
                                        <p:cTn id="22" dur="1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5" name="Title 1"/>
          <p:cNvSpPr txBox="1">
            <a:spLocks/>
          </p:cNvSpPr>
          <p:nvPr/>
        </p:nvSpPr>
        <p:spPr>
          <a:xfrm>
            <a:off x="552747" y="232858"/>
            <a:ext cx="10690578" cy="1320322"/>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spcAft>
                <a:spcPts val="300"/>
              </a:spcAft>
            </a:pPr>
            <a:r>
              <a:rPr lang="en-US" sz="50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Faith – Focused </a:t>
            </a:r>
            <a:r>
              <a:rPr lang="en-US" sz="50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Forward             </a:t>
            </a:r>
          </a:p>
          <a:p>
            <a:pPr>
              <a:spcBef>
                <a:spcPts val="0"/>
              </a:spcBef>
              <a:spcAft>
                <a:spcPts val="300"/>
              </a:spcAft>
            </a:pPr>
            <a:r>
              <a:rPr lang="en-US" sz="34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6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Times New Roman" panose="02020603050405020304" pitchFamily="18" charset="0"/>
              </a:rPr>
              <a:t>Operational </a:t>
            </a:r>
            <a:r>
              <a:rPr lang="en-US" sz="36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Times New Roman" panose="02020603050405020304" pitchFamily="18" charset="0"/>
              </a:rPr>
              <a:t>Processes (SOP’s)</a:t>
            </a:r>
            <a:endParaRPr lang="en-US" sz="34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10" name="TextBox 9"/>
          <p:cNvSpPr txBox="1"/>
          <p:nvPr/>
        </p:nvSpPr>
        <p:spPr>
          <a:xfrm>
            <a:off x="0" y="6585978"/>
            <a:ext cx="12192000" cy="372438"/>
          </a:xfrm>
          <a:prstGeom prst="rect">
            <a:avLst/>
          </a:prstGeom>
          <a:solidFill>
            <a:srgbClr val="513E35"/>
          </a:solidFill>
        </p:spPr>
        <p:txBody>
          <a:bodyPr wrap="square" rtlCol="0">
            <a:spAutoFit/>
          </a:bodyPr>
          <a:lstStyle/>
          <a:p>
            <a:endParaRPr lang="en-US" dirty="0">
              <a:ln>
                <a:solidFill>
                  <a:srgbClr val="335020"/>
                </a:solidFill>
              </a:ln>
              <a:solidFill>
                <a:srgbClr val="005828"/>
              </a:solidFill>
            </a:endParaRPr>
          </a:p>
        </p:txBody>
      </p:sp>
      <p:sp>
        <p:nvSpPr>
          <p:cNvPr id="3" name="Rectangle 2"/>
          <p:cNvSpPr/>
          <p:nvPr/>
        </p:nvSpPr>
        <p:spPr>
          <a:xfrm>
            <a:off x="1077304" y="1786038"/>
            <a:ext cx="10366836" cy="3985706"/>
          </a:xfrm>
          <a:prstGeom prst="rect">
            <a:avLst/>
          </a:prstGeom>
        </p:spPr>
        <p:txBody>
          <a:bodyPr wrap="square">
            <a:spAutoFit/>
          </a:bodyPr>
          <a:lstStyle/>
          <a:p>
            <a:pPr>
              <a:spcBef>
                <a:spcPts val="600"/>
              </a:spcBef>
              <a:spcAft>
                <a:spcPts val="600"/>
              </a:spcAft>
            </a:pPr>
            <a:r>
              <a:rPr lang="en-US" sz="3200" b="1" i="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What is a Standard Operating Procedure (SOP</a:t>
            </a:r>
            <a:r>
              <a:rPr lang="en-US" sz="3200" b="1" i="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p>
          <a:p>
            <a:pPr>
              <a:spcBef>
                <a:spcPts val="600"/>
              </a:spcBef>
              <a:spcAft>
                <a:spcPts val="600"/>
              </a:spcAft>
            </a:pPr>
            <a:endParaRPr lang="en-US" sz="10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pPr marL="457200" indent="-457200">
              <a:buFont typeface="Arial" panose="020B0604020202020204" pitchFamily="34" charset="0"/>
              <a:buChar char="•"/>
            </a:pPr>
            <a:r>
              <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 </a:t>
            </a:r>
            <a:r>
              <a:rPr lang="en-US" sz="2800" b="1" i="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Standard Operating Procedure</a:t>
            </a:r>
            <a:r>
              <a:rPr lang="en-US" sz="28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r>
              <a:rPr lang="en-US" sz="2800" b="1" i="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SOP</a:t>
            </a:r>
            <a:r>
              <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is a set of step-by-step instructions outlining how tasks and processes should be carried out.  It’s a powerful tool for streamlining administration, maintaining accountability, and ensuring smooth day-to-day operations and transition when leadership or volunteers change. An SOP will provide consistency, and accountability in ministry operations. </a:t>
            </a:r>
          </a:p>
        </p:txBody>
      </p:sp>
    </p:spTree>
    <p:extLst>
      <p:ext uri="{BB962C8B-B14F-4D97-AF65-F5344CB8AC3E}">
        <p14:creationId xmlns:p14="http://schemas.microsoft.com/office/powerpoint/2010/main" val="4089663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5" name="Title 1"/>
          <p:cNvSpPr txBox="1">
            <a:spLocks/>
          </p:cNvSpPr>
          <p:nvPr/>
        </p:nvSpPr>
        <p:spPr>
          <a:xfrm>
            <a:off x="552747" y="232858"/>
            <a:ext cx="10690578" cy="1320322"/>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spcAft>
                <a:spcPts val="300"/>
              </a:spcAft>
            </a:pPr>
            <a:r>
              <a:rPr lang="en-US" sz="50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Faith – Focused </a:t>
            </a:r>
            <a:r>
              <a:rPr lang="en-US" sz="50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Forward             </a:t>
            </a:r>
          </a:p>
          <a:p>
            <a:pPr>
              <a:spcBef>
                <a:spcPts val="0"/>
              </a:spcBef>
              <a:spcAft>
                <a:spcPts val="300"/>
              </a:spcAft>
            </a:pPr>
            <a:r>
              <a:rPr lang="en-US" sz="34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6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Times New Roman" panose="02020603050405020304" pitchFamily="18" charset="0"/>
              </a:rPr>
              <a:t>Operational </a:t>
            </a:r>
            <a:r>
              <a:rPr lang="en-US" sz="36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Times New Roman" panose="02020603050405020304" pitchFamily="18" charset="0"/>
              </a:rPr>
              <a:t>Processes (SOP’s)</a:t>
            </a:r>
            <a:endParaRPr lang="en-US" sz="34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10" name="TextBox 9"/>
          <p:cNvSpPr txBox="1"/>
          <p:nvPr/>
        </p:nvSpPr>
        <p:spPr>
          <a:xfrm>
            <a:off x="0" y="6585978"/>
            <a:ext cx="12192000" cy="372438"/>
          </a:xfrm>
          <a:prstGeom prst="rect">
            <a:avLst/>
          </a:prstGeom>
          <a:solidFill>
            <a:srgbClr val="513E35"/>
          </a:solidFill>
        </p:spPr>
        <p:txBody>
          <a:bodyPr wrap="square" rtlCol="0">
            <a:spAutoFit/>
          </a:bodyPr>
          <a:lstStyle/>
          <a:p>
            <a:endParaRPr lang="en-US" dirty="0">
              <a:ln>
                <a:solidFill>
                  <a:srgbClr val="335020"/>
                </a:solidFill>
              </a:ln>
              <a:solidFill>
                <a:srgbClr val="005828"/>
              </a:solidFill>
            </a:endParaRPr>
          </a:p>
        </p:txBody>
      </p:sp>
      <p:sp>
        <p:nvSpPr>
          <p:cNvPr id="3" name="Rectangle 2"/>
          <p:cNvSpPr/>
          <p:nvPr/>
        </p:nvSpPr>
        <p:spPr>
          <a:xfrm>
            <a:off x="804172" y="1582340"/>
            <a:ext cx="10583653" cy="4370427"/>
          </a:xfrm>
          <a:prstGeom prst="rect">
            <a:avLst/>
          </a:prstGeom>
        </p:spPr>
        <p:txBody>
          <a:bodyPr wrap="square">
            <a:spAutoFit/>
          </a:bodyPr>
          <a:lstStyle/>
          <a:p>
            <a:pPr marL="457200" indent="-457200">
              <a:buFont typeface="Arial" panose="020B0604020202020204" pitchFamily="34" charset="0"/>
              <a:buChar char="•"/>
            </a:pPr>
            <a:r>
              <a:rPr lang="en-US" sz="2800" b="1" i="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Why An SOP ?</a:t>
            </a:r>
            <a:r>
              <a:rPr lang="en-US" sz="2800" b="1" i="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endParaRPr lang="en-US" sz="2800" b="1" i="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endParaRPr lang="en-US" sz="1000" b="1" i="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pPr marL="801688" indent="-457200">
              <a:buFont typeface="Wingdings" panose="05000000000000000000" pitchFamily="2" charset="2"/>
              <a:buChar char="Ø"/>
            </a:pPr>
            <a:r>
              <a:rPr lang="en-US" sz="2400" b="1" i="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Consistency &amp; Efficiency</a:t>
            </a:r>
            <a:r>
              <a:rPr lang="en-US" sz="24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 Ensures that church activities and programs follow a structured approach, reducing confusion and operational interruptions</a:t>
            </a:r>
            <a:r>
              <a:rPr lang="en-US" sz="24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p>
          <a:p>
            <a:pPr marL="344488"/>
            <a:endParaRPr lang="en-US" sz="24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pPr marL="801688" indent="-457200">
              <a:buFont typeface="Wingdings" panose="05000000000000000000" pitchFamily="2" charset="2"/>
              <a:buChar char="Ø"/>
            </a:pPr>
            <a:r>
              <a:rPr lang="en-US" sz="2400" b="1" i="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Accountability &amp; Transparency</a:t>
            </a:r>
            <a:r>
              <a:rPr lang="en-US" sz="24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a:t>
            </a:r>
            <a:r>
              <a:rPr lang="en-US" sz="24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Clearly defines roles and responsibilities, ensuring that church leaders, staff, and volunteers operate within church policy</a:t>
            </a:r>
            <a:r>
              <a:rPr lang="en-US" sz="24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p>
          <a:p>
            <a:pPr marL="344488"/>
            <a:endParaRPr lang="en-US" sz="24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pPr marL="687388" indent="-342900">
              <a:buFont typeface="Wingdings" panose="05000000000000000000" pitchFamily="2" charset="2"/>
              <a:buChar char="Ø"/>
            </a:pPr>
            <a:r>
              <a:rPr lang="en-US" sz="2400" b="1" i="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Internal Communication</a:t>
            </a:r>
            <a:r>
              <a:rPr lang="en-US" sz="24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 Provides a reference for church leaders </a:t>
            </a:r>
            <a:r>
              <a:rPr lang="en-US" sz="24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and       </a:t>
            </a:r>
            <a:r>
              <a:rPr lang="en-US" sz="24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members, making internal communication more effective</a:t>
            </a:r>
            <a:r>
              <a:rPr lang="en-US" sz="24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endPar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483600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1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left)">
                                      <p:cBhvr>
                                        <p:cTn id="17" dur="1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wipe(left)">
                                      <p:cBhvr>
                                        <p:cTn id="22"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 y="-65988"/>
            <a:ext cx="12191999" cy="6858000"/>
          </a:xfrm>
          <a:prstGeom prst="rect">
            <a:avLst/>
          </a:prstGeom>
        </p:spPr>
      </p:pic>
      <p:sp>
        <p:nvSpPr>
          <p:cNvPr id="5" name="Title 1"/>
          <p:cNvSpPr txBox="1">
            <a:spLocks/>
          </p:cNvSpPr>
          <p:nvPr/>
        </p:nvSpPr>
        <p:spPr>
          <a:xfrm>
            <a:off x="552747" y="232858"/>
            <a:ext cx="10690578" cy="1320322"/>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spcAft>
                <a:spcPts val="300"/>
              </a:spcAft>
            </a:pPr>
            <a:r>
              <a:rPr lang="en-US" sz="50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Faith – Focused </a:t>
            </a:r>
            <a:r>
              <a:rPr lang="en-US" sz="50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Forward             </a:t>
            </a:r>
          </a:p>
          <a:p>
            <a:pPr>
              <a:spcBef>
                <a:spcPts val="0"/>
              </a:spcBef>
              <a:spcAft>
                <a:spcPts val="300"/>
              </a:spcAft>
            </a:pPr>
            <a:r>
              <a:rPr lang="en-US" sz="34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6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Times New Roman" panose="02020603050405020304" pitchFamily="18" charset="0"/>
              </a:rPr>
              <a:t>Operational </a:t>
            </a:r>
            <a:r>
              <a:rPr lang="en-US" sz="36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Times New Roman" panose="02020603050405020304" pitchFamily="18" charset="0"/>
              </a:rPr>
              <a:t>Processes (SOP’s)</a:t>
            </a:r>
            <a:endParaRPr lang="en-US" sz="34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10" name="TextBox 9"/>
          <p:cNvSpPr txBox="1"/>
          <p:nvPr/>
        </p:nvSpPr>
        <p:spPr>
          <a:xfrm>
            <a:off x="0" y="6585978"/>
            <a:ext cx="12192000" cy="372438"/>
          </a:xfrm>
          <a:prstGeom prst="rect">
            <a:avLst/>
          </a:prstGeom>
          <a:solidFill>
            <a:srgbClr val="513E35"/>
          </a:solidFill>
        </p:spPr>
        <p:txBody>
          <a:bodyPr wrap="square" rtlCol="0">
            <a:spAutoFit/>
          </a:bodyPr>
          <a:lstStyle/>
          <a:p>
            <a:endParaRPr lang="en-US" dirty="0">
              <a:ln>
                <a:solidFill>
                  <a:srgbClr val="335020"/>
                </a:solidFill>
              </a:ln>
              <a:solidFill>
                <a:srgbClr val="005828"/>
              </a:solidFill>
            </a:endParaRPr>
          </a:p>
        </p:txBody>
      </p:sp>
      <p:sp>
        <p:nvSpPr>
          <p:cNvPr id="3" name="Rectangle 2"/>
          <p:cNvSpPr/>
          <p:nvPr/>
        </p:nvSpPr>
        <p:spPr>
          <a:xfrm>
            <a:off x="935901" y="1482633"/>
            <a:ext cx="10583653" cy="4093428"/>
          </a:xfrm>
          <a:prstGeom prst="rect">
            <a:avLst/>
          </a:prstGeom>
        </p:spPr>
        <p:txBody>
          <a:bodyPr wrap="square">
            <a:spAutoFit/>
          </a:bodyPr>
          <a:lstStyle/>
          <a:p>
            <a:endParaRPr lang="en-US" sz="1000" b="1" i="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pPr marL="457200" indent="-457200">
              <a:buFont typeface="Arial" panose="020B0604020202020204" pitchFamily="34" charset="0"/>
              <a:buChar char="•"/>
            </a:pPr>
            <a:r>
              <a:rPr lang="en-US" sz="2800" b="1" i="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Why An SOP?</a:t>
            </a:r>
          </a:p>
          <a:p>
            <a:endParaRPr lang="en-US" sz="1000" b="1" i="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pPr marL="687388" indent="-342900">
              <a:buFont typeface="Wingdings" panose="05000000000000000000" pitchFamily="2" charset="2"/>
              <a:buChar char="Ø"/>
            </a:pPr>
            <a:r>
              <a:rPr lang="en-US" sz="2400" b="1" i="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Smoother </a:t>
            </a:r>
            <a:r>
              <a:rPr lang="en-US" sz="2400" b="1" i="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Transitions</a:t>
            </a:r>
            <a:r>
              <a:rPr lang="en-US" sz="24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 Simplifies onboarding of new staff, volunteers, or </a:t>
            </a:r>
            <a:r>
              <a:rPr lang="en-US" sz="24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leadership </a:t>
            </a:r>
            <a:r>
              <a:rPr lang="en-US" sz="24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changes by offering a structured guide for church operations</a:t>
            </a:r>
            <a:r>
              <a:rPr lang="en-US" sz="24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t>
            </a:r>
          </a:p>
          <a:p>
            <a:pPr marL="344488"/>
            <a:endParaRPr lang="en-US" sz="10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pPr marL="687388" indent="-347663">
              <a:buFont typeface="Wingdings" panose="05000000000000000000" pitchFamily="2" charset="2"/>
              <a:buChar char="Ø"/>
              <a:tabLst>
                <a:tab pos="687388" algn="l"/>
                <a:tab pos="8804275" algn="l"/>
              </a:tabLst>
            </a:pPr>
            <a:r>
              <a:rPr lang="en-US" sz="2400" b="1" i="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Administrative Operations </a:t>
            </a:r>
            <a:r>
              <a:rPr lang="en-US" sz="24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 SOP’s cover leadership, administration, finances, worship services &amp; programs, volunteers, facilities, security, outreach and compliance, safety policies, and other legal considerations.</a:t>
            </a:r>
          </a:p>
          <a:p>
            <a:pPr marL="687388">
              <a:tabLst>
                <a:tab pos="687388" algn="l"/>
                <a:tab pos="8804275" algn="l"/>
              </a:tabLst>
            </a:pPr>
            <a:endParaRPr lang="en-US" sz="10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p>
            <a:pPr marL="687388">
              <a:tabLst>
                <a:tab pos="687388" algn="l"/>
                <a:tab pos="8804275" algn="l"/>
              </a:tabLst>
            </a:pPr>
            <a:r>
              <a:rPr lang="en-US" sz="24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To </a:t>
            </a:r>
            <a:r>
              <a:rPr lang="en-US" sz="24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stay aligned with the church’s mission, to keep up with operational changes and to adapt to ministry growth each SOP should be review annually. </a:t>
            </a:r>
            <a:endParaRPr lang="en-US" sz="28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p:txBody>
      </p:sp>
      <p:sp>
        <p:nvSpPr>
          <p:cNvPr id="2" name="Rectangle 1"/>
          <p:cNvSpPr/>
          <p:nvPr/>
        </p:nvSpPr>
        <p:spPr>
          <a:xfrm>
            <a:off x="381638" y="5588577"/>
            <a:ext cx="11032795" cy="830997"/>
          </a:xfrm>
          <a:prstGeom prst="rect">
            <a:avLst/>
          </a:prstGeom>
        </p:spPr>
        <p:txBody>
          <a:bodyPr wrap="square">
            <a:spAutoFit/>
          </a:bodyPr>
          <a:lstStyle/>
          <a:p>
            <a:pPr marL="228600" marR="0">
              <a:spcBef>
                <a:spcPts val="0"/>
              </a:spcBef>
              <a:spcAft>
                <a:spcPts val="0"/>
              </a:spcAft>
            </a:pPr>
            <a:r>
              <a:rPr lang="en-US" sz="24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Arial" panose="020B0604020202020204" pitchFamily="34" charset="0"/>
              </a:rPr>
              <a:t>The main </a:t>
            </a:r>
            <a:r>
              <a:rPr lang="en-US" sz="24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Arial" panose="020B0604020202020204" pitchFamily="34" charset="0"/>
              </a:rPr>
              <a:t>purpose </a:t>
            </a:r>
            <a:r>
              <a:rPr lang="en-US" sz="24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Arial" panose="020B0604020202020204" pitchFamily="34" charset="0"/>
              </a:rPr>
              <a:t>of the SOP is </a:t>
            </a:r>
            <a:r>
              <a:rPr lang="en-US" sz="24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Arial" panose="020B0604020202020204" pitchFamily="34" charset="0"/>
              </a:rPr>
              <a:t>to protect the ministry, empower the people, and create consistency in operations within the church. </a:t>
            </a:r>
            <a:endParaRPr lang="en-US" sz="2400"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463368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1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wipe(left)">
                                      <p:cBhvr>
                                        <p:cTn id="12" dur="10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wipe(left)">
                                      <p:cBhvr>
                                        <p:cTn id="17" dur="10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wipe(left)">
                                      <p:cBhvr>
                                        <p:cTn id="22" dur="1000"/>
                                        <p:tgtEl>
                                          <p:spTgt spid="3">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0" end="0"/>
                                            </p:txEl>
                                          </p:spTgt>
                                        </p:tgtEl>
                                        <p:attrNameLst>
                                          <p:attrName>style.visibility</p:attrName>
                                        </p:attrNameLst>
                                      </p:cBhvr>
                                      <p:to>
                                        <p:strVal val="visible"/>
                                      </p:to>
                                    </p:set>
                                    <p:animEffect transition="in" filter="wipe(left)">
                                      <p:cBhvr>
                                        <p:cTn id="27" dur="10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 y="-65988"/>
            <a:ext cx="12191999" cy="6858000"/>
          </a:xfrm>
          <a:prstGeom prst="rect">
            <a:avLst/>
          </a:prstGeom>
        </p:spPr>
      </p:pic>
      <p:sp>
        <p:nvSpPr>
          <p:cNvPr id="10" name="TextBox 9"/>
          <p:cNvSpPr txBox="1"/>
          <p:nvPr/>
        </p:nvSpPr>
        <p:spPr>
          <a:xfrm>
            <a:off x="0" y="6501140"/>
            <a:ext cx="12192000" cy="372438"/>
          </a:xfrm>
          <a:prstGeom prst="rect">
            <a:avLst/>
          </a:prstGeom>
          <a:solidFill>
            <a:srgbClr val="513E35"/>
          </a:solidFill>
        </p:spPr>
        <p:txBody>
          <a:bodyPr wrap="square" rtlCol="0">
            <a:spAutoFit/>
          </a:bodyPr>
          <a:lstStyle/>
          <a:p>
            <a:endParaRPr lang="en-US" dirty="0">
              <a:ln>
                <a:solidFill>
                  <a:srgbClr val="335020"/>
                </a:solidFill>
              </a:ln>
              <a:solidFill>
                <a:srgbClr val="005828"/>
              </a:solidFill>
            </a:endParaRPr>
          </a:p>
        </p:txBody>
      </p:sp>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12503" y="676795"/>
            <a:ext cx="5279010" cy="5629737"/>
          </a:xfrm>
          <a:prstGeom prst="rect">
            <a:avLst/>
          </a:prstGeom>
        </p:spPr>
      </p:pic>
      <p:sp>
        <p:nvSpPr>
          <p:cNvPr id="8" name="Rectangle 7"/>
          <p:cNvSpPr/>
          <p:nvPr/>
        </p:nvSpPr>
        <p:spPr>
          <a:xfrm>
            <a:off x="3553905" y="74571"/>
            <a:ext cx="5137608" cy="461665"/>
          </a:xfrm>
          <a:prstGeom prst="rect">
            <a:avLst/>
          </a:prstGeom>
        </p:spPr>
        <p:txBody>
          <a:bodyPr wrap="square">
            <a:spAutoFit/>
          </a:bodyPr>
          <a:lstStyle/>
          <a:p>
            <a:pPr algn="ctr"/>
            <a:r>
              <a:rPr lang="en-US" sz="24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24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Times New Roman" panose="02020603050405020304" pitchFamily="18" charset="0"/>
              </a:rPr>
              <a:t>EBC SOP Template </a:t>
            </a:r>
            <a:endParaRPr lang="en-US" sz="2400" dirty="0">
              <a:solidFill>
                <a:srgbClr val="513E35"/>
              </a:solidFill>
            </a:endParaRPr>
          </a:p>
        </p:txBody>
      </p:sp>
    </p:spTree>
    <p:extLst>
      <p:ext uri="{BB962C8B-B14F-4D97-AF65-F5344CB8AC3E}">
        <p14:creationId xmlns:p14="http://schemas.microsoft.com/office/powerpoint/2010/main" val="4000998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 y="-65988"/>
            <a:ext cx="12191999" cy="6858000"/>
          </a:xfrm>
          <a:prstGeom prst="rect">
            <a:avLst/>
          </a:prstGeom>
        </p:spPr>
      </p:pic>
      <p:sp>
        <p:nvSpPr>
          <p:cNvPr id="10" name="TextBox 9"/>
          <p:cNvSpPr txBox="1"/>
          <p:nvPr/>
        </p:nvSpPr>
        <p:spPr>
          <a:xfrm>
            <a:off x="0" y="6585978"/>
            <a:ext cx="12192000" cy="372438"/>
          </a:xfrm>
          <a:prstGeom prst="rect">
            <a:avLst/>
          </a:prstGeom>
          <a:solidFill>
            <a:srgbClr val="513E35"/>
          </a:solidFill>
        </p:spPr>
        <p:txBody>
          <a:bodyPr wrap="square" rtlCol="0">
            <a:spAutoFit/>
          </a:bodyPr>
          <a:lstStyle/>
          <a:p>
            <a:endParaRPr lang="en-US" dirty="0">
              <a:ln>
                <a:solidFill>
                  <a:srgbClr val="335020"/>
                </a:solidFill>
              </a:ln>
              <a:solidFill>
                <a:srgbClr val="005828"/>
              </a:solidFill>
            </a:endParaRPr>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46318" y="676795"/>
            <a:ext cx="5299364" cy="5608948"/>
          </a:xfrm>
          <a:prstGeom prst="rect">
            <a:avLst/>
          </a:prstGeom>
        </p:spPr>
      </p:pic>
      <p:sp>
        <p:nvSpPr>
          <p:cNvPr id="6" name="Rectangle 5"/>
          <p:cNvSpPr/>
          <p:nvPr/>
        </p:nvSpPr>
        <p:spPr>
          <a:xfrm>
            <a:off x="3553905" y="74571"/>
            <a:ext cx="5137608" cy="461665"/>
          </a:xfrm>
          <a:prstGeom prst="rect">
            <a:avLst/>
          </a:prstGeom>
        </p:spPr>
        <p:txBody>
          <a:bodyPr wrap="square">
            <a:spAutoFit/>
          </a:bodyPr>
          <a:lstStyle/>
          <a:p>
            <a:pPr algn="ctr"/>
            <a:r>
              <a:rPr lang="en-US" sz="24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24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Times New Roman" panose="02020603050405020304" pitchFamily="18" charset="0"/>
              </a:rPr>
              <a:t>EBC SOP Template </a:t>
            </a:r>
            <a:endParaRPr lang="en-US" sz="2400" dirty="0">
              <a:solidFill>
                <a:srgbClr val="513E35"/>
              </a:solidFill>
            </a:endParaRPr>
          </a:p>
        </p:txBody>
      </p:sp>
    </p:spTree>
    <p:extLst>
      <p:ext uri="{BB962C8B-B14F-4D97-AF65-F5344CB8AC3E}">
        <p14:creationId xmlns:p14="http://schemas.microsoft.com/office/powerpoint/2010/main" val="227193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 y="-65988"/>
            <a:ext cx="12191999" cy="6858000"/>
          </a:xfrm>
          <a:prstGeom prst="rect">
            <a:avLst/>
          </a:prstGeom>
        </p:spPr>
      </p:pic>
      <p:sp>
        <p:nvSpPr>
          <p:cNvPr id="10" name="TextBox 9"/>
          <p:cNvSpPr txBox="1"/>
          <p:nvPr/>
        </p:nvSpPr>
        <p:spPr>
          <a:xfrm>
            <a:off x="0" y="6585978"/>
            <a:ext cx="12192000" cy="372438"/>
          </a:xfrm>
          <a:prstGeom prst="rect">
            <a:avLst/>
          </a:prstGeom>
          <a:solidFill>
            <a:srgbClr val="513E35"/>
          </a:solidFill>
        </p:spPr>
        <p:txBody>
          <a:bodyPr wrap="square" rtlCol="0">
            <a:spAutoFit/>
          </a:bodyPr>
          <a:lstStyle/>
          <a:p>
            <a:endParaRPr lang="en-US" dirty="0">
              <a:ln>
                <a:solidFill>
                  <a:srgbClr val="335020"/>
                </a:solidFill>
              </a:ln>
              <a:solidFill>
                <a:srgbClr val="005828"/>
              </a:solidFill>
            </a:endParaRPr>
          </a:p>
        </p:txBody>
      </p:sp>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46318" y="546755"/>
            <a:ext cx="5299364" cy="5872654"/>
          </a:xfrm>
          <a:prstGeom prst="rect">
            <a:avLst/>
          </a:prstGeom>
        </p:spPr>
      </p:pic>
      <p:sp>
        <p:nvSpPr>
          <p:cNvPr id="6" name="Rectangle 5"/>
          <p:cNvSpPr/>
          <p:nvPr/>
        </p:nvSpPr>
        <p:spPr>
          <a:xfrm>
            <a:off x="3608074" y="25257"/>
            <a:ext cx="5137608" cy="461665"/>
          </a:xfrm>
          <a:prstGeom prst="rect">
            <a:avLst/>
          </a:prstGeom>
        </p:spPr>
        <p:txBody>
          <a:bodyPr wrap="square">
            <a:spAutoFit/>
          </a:bodyPr>
          <a:lstStyle/>
          <a:p>
            <a:pPr algn="ctr"/>
            <a:r>
              <a:rPr lang="en-US" sz="24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24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Times New Roman" panose="02020603050405020304" pitchFamily="18" charset="0"/>
              </a:rPr>
              <a:t>EBC SOP Template </a:t>
            </a:r>
            <a:endParaRPr lang="en-US" sz="2400" dirty="0">
              <a:solidFill>
                <a:srgbClr val="513E35"/>
              </a:solidFill>
            </a:endParaRPr>
          </a:p>
        </p:txBody>
      </p:sp>
    </p:spTree>
    <p:extLst>
      <p:ext uri="{BB962C8B-B14F-4D97-AF65-F5344CB8AC3E}">
        <p14:creationId xmlns:p14="http://schemas.microsoft.com/office/powerpoint/2010/main" val="693669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 y="6660"/>
            <a:ext cx="12191999" cy="6858000"/>
          </a:xfrm>
          <a:prstGeom prst="rect">
            <a:avLst/>
          </a:prstGeom>
        </p:spPr>
      </p:pic>
      <p:sp>
        <p:nvSpPr>
          <p:cNvPr id="10" name="TextBox 9"/>
          <p:cNvSpPr txBox="1"/>
          <p:nvPr/>
        </p:nvSpPr>
        <p:spPr>
          <a:xfrm>
            <a:off x="0" y="6585978"/>
            <a:ext cx="12192000" cy="372438"/>
          </a:xfrm>
          <a:prstGeom prst="rect">
            <a:avLst/>
          </a:prstGeom>
          <a:solidFill>
            <a:srgbClr val="513E35"/>
          </a:solidFill>
        </p:spPr>
        <p:txBody>
          <a:bodyPr wrap="square" rtlCol="0">
            <a:spAutoFit/>
          </a:bodyPr>
          <a:lstStyle/>
          <a:p>
            <a:endParaRPr lang="en-US" dirty="0">
              <a:ln>
                <a:solidFill>
                  <a:srgbClr val="335020"/>
                </a:solidFill>
              </a:ln>
              <a:solidFill>
                <a:srgbClr val="005828"/>
              </a:solidFill>
            </a:endParaRPr>
          </a:p>
        </p:txBody>
      </p:sp>
      <p:sp>
        <p:nvSpPr>
          <p:cNvPr id="7" name="Rectangle 6"/>
          <p:cNvSpPr/>
          <p:nvPr/>
        </p:nvSpPr>
        <p:spPr>
          <a:xfrm>
            <a:off x="2894030" y="231520"/>
            <a:ext cx="5599521" cy="461665"/>
          </a:xfrm>
          <a:prstGeom prst="rect">
            <a:avLst/>
          </a:prstGeom>
        </p:spPr>
        <p:txBody>
          <a:bodyPr wrap="square">
            <a:spAutoFit/>
          </a:bodyPr>
          <a:lstStyle/>
          <a:p>
            <a:pPr algn="ctr"/>
            <a:r>
              <a:rPr lang="en-US" sz="24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Actionable Objectives Table</a:t>
            </a:r>
            <a:endParaRPr lang="en-US" sz="2400" dirty="0">
              <a:solidFill>
                <a:srgbClr val="513E35"/>
              </a:solidFill>
            </a:endParaRPr>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16058" y="918045"/>
            <a:ext cx="9587059" cy="5501363"/>
          </a:xfrm>
          <a:prstGeom prst="rect">
            <a:avLst/>
          </a:prstGeom>
        </p:spPr>
      </p:pic>
    </p:spTree>
    <p:extLst>
      <p:ext uri="{BB962C8B-B14F-4D97-AF65-F5344CB8AC3E}">
        <p14:creationId xmlns:p14="http://schemas.microsoft.com/office/powerpoint/2010/main" val="2869030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0" y="-85803"/>
            <a:ext cx="12191999" cy="6858000"/>
          </a:xfrm>
          <a:prstGeom prst="rect">
            <a:avLst/>
          </a:prstGeom>
        </p:spPr>
      </p:pic>
      <p:sp>
        <p:nvSpPr>
          <p:cNvPr id="5" name="Title 1"/>
          <p:cNvSpPr txBox="1">
            <a:spLocks/>
          </p:cNvSpPr>
          <p:nvPr/>
        </p:nvSpPr>
        <p:spPr>
          <a:xfrm>
            <a:off x="888768" y="118702"/>
            <a:ext cx="10690578" cy="1320322"/>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spcAft>
                <a:spcPts val="300"/>
              </a:spcAft>
            </a:pPr>
            <a:r>
              <a:rPr lang="en-US" sz="50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Faith – Focused </a:t>
            </a:r>
            <a:r>
              <a:rPr lang="en-US" sz="50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Forward             </a:t>
            </a:r>
            <a:r>
              <a:rPr lang="en-US" sz="3400" b="1" i="1" dirty="0" smtClean="0">
                <a:solidFill>
                  <a:srgbClr val="513E35"/>
                </a:solidFill>
                <a:latin typeface="Cambria" panose="02040503050406030204" pitchFamily="18" charset="0"/>
                <a:ea typeface="Cambria" panose="02040503050406030204" pitchFamily="18" charset="0"/>
              </a:rPr>
              <a:t>What’s Next </a:t>
            </a:r>
            <a:endParaRPr lang="en-US" sz="3400" b="1" i="1" dirty="0">
              <a:solidFill>
                <a:srgbClr val="513E35"/>
              </a:solidFill>
              <a:latin typeface="Cambria" panose="02040503050406030204" pitchFamily="18" charset="0"/>
              <a:ea typeface="Cambria" panose="02040503050406030204" pitchFamily="18" charset="0"/>
            </a:endParaRPr>
          </a:p>
        </p:txBody>
      </p:sp>
      <p:sp>
        <p:nvSpPr>
          <p:cNvPr id="10" name="TextBox 9"/>
          <p:cNvSpPr txBox="1"/>
          <p:nvPr/>
        </p:nvSpPr>
        <p:spPr>
          <a:xfrm>
            <a:off x="0" y="6585978"/>
            <a:ext cx="12192000" cy="372438"/>
          </a:xfrm>
          <a:prstGeom prst="rect">
            <a:avLst/>
          </a:prstGeom>
          <a:solidFill>
            <a:srgbClr val="513E35"/>
          </a:solidFill>
        </p:spPr>
        <p:txBody>
          <a:bodyPr wrap="square" rtlCol="0">
            <a:spAutoFit/>
          </a:bodyPr>
          <a:lstStyle/>
          <a:p>
            <a:endParaRPr lang="en-US" dirty="0">
              <a:ln>
                <a:solidFill>
                  <a:srgbClr val="335020"/>
                </a:solidFill>
              </a:ln>
              <a:solidFill>
                <a:srgbClr val="005828"/>
              </a:solidFill>
            </a:endParaRPr>
          </a:p>
        </p:txBody>
      </p:sp>
      <p:sp>
        <p:nvSpPr>
          <p:cNvPr id="9" name="Rectangle 8"/>
          <p:cNvSpPr/>
          <p:nvPr/>
        </p:nvSpPr>
        <p:spPr>
          <a:xfrm>
            <a:off x="1197484" y="1439024"/>
            <a:ext cx="9600395" cy="553998"/>
          </a:xfrm>
          <a:prstGeom prst="rect">
            <a:avLst/>
          </a:prstGeom>
        </p:spPr>
        <p:txBody>
          <a:bodyPr wrap="square">
            <a:spAutoFit/>
          </a:bodyPr>
          <a:lstStyle/>
          <a:p>
            <a:pPr marL="228600" marR="0">
              <a:lnSpc>
                <a:spcPts val="1800"/>
              </a:lnSpc>
              <a:spcBef>
                <a:spcPts val="0"/>
              </a:spcBef>
              <a:spcAft>
                <a:spcPts val="0"/>
              </a:spcAft>
            </a:pPr>
            <a:endParaRPr lang="en-US" sz="28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Times New Roman" panose="02020603050405020304" pitchFamily="18" charset="0"/>
            </a:endParaRPr>
          </a:p>
          <a:p>
            <a:pPr marL="228600" marR="0">
              <a:lnSpc>
                <a:spcPts val="1800"/>
              </a:lnSpc>
              <a:spcBef>
                <a:spcPts val="0"/>
              </a:spcBef>
              <a:spcAft>
                <a:spcPts val="0"/>
              </a:spcAft>
            </a:pPr>
            <a:r>
              <a:rPr lang="en-US" sz="28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Times New Roman" panose="02020603050405020304" pitchFamily="18" charset="0"/>
              </a:rPr>
              <a:t>The </a:t>
            </a:r>
            <a:r>
              <a:rPr lang="en-US" sz="2800"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Times New Roman" panose="02020603050405020304" pitchFamily="18" charset="0"/>
              </a:rPr>
              <a:t>next steps include:</a:t>
            </a:r>
          </a:p>
        </p:txBody>
      </p:sp>
      <p:graphicFrame>
        <p:nvGraphicFramePr>
          <p:cNvPr id="6" name="Table 5"/>
          <p:cNvGraphicFramePr>
            <a:graphicFrameLocks noGrp="1"/>
          </p:cNvGraphicFramePr>
          <p:nvPr>
            <p:extLst>
              <p:ext uri="{D42A27DB-BD31-4B8C-83A1-F6EECF244321}">
                <p14:modId xmlns:p14="http://schemas.microsoft.com/office/powerpoint/2010/main" val="1848089000"/>
              </p:ext>
            </p:extLst>
          </p:nvPr>
        </p:nvGraphicFramePr>
        <p:xfrm>
          <a:off x="1394118" y="2144753"/>
          <a:ext cx="9403761" cy="4145280"/>
        </p:xfrm>
        <a:graphic>
          <a:graphicData uri="http://schemas.openxmlformats.org/drawingml/2006/table">
            <a:tbl>
              <a:tblPr firstRow="1" bandRow="1">
                <a:tableStyleId>{616DA210-FB5B-4158-B5E0-FEB733F419BA}</a:tableStyleId>
              </a:tblPr>
              <a:tblGrid>
                <a:gridCol w="8290554"/>
                <a:gridCol w="1113207"/>
              </a:tblGrid>
              <a:tr h="471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Times New Roman" panose="02020603050405020304" pitchFamily="18" charset="0"/>
                        </a:rPr>
                        <a:t>Consolidate Notes</a:t>
                      </a:r>
                      <a:endParaRPr lang="en-US" sz="2800" dirty="0">
                        <a:solidFill>
                          <a:srgbClr val="513E35"/>
                        </a:solidFill>
                        <a:latin typeface="Cambria Math" panose="02040503050406030204" pitchFamily="18" charset="0"/>
                        <a:ea typeface="Cambria Math" panose="02040503050406030204" pitchFamily="18" charset="0"/>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sz="1800" b="1" kern="12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mn-cs"/>
                        </a:rPr>
                        <a:t>√</a:t>
                      </a:r>
                      <a:endParaRPr lang="en-US"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anchor="b">
                    <a:lnL w="12700" cmpd="sng">
                      <a:noFill/>
                    </a:lnL>
                    <a:lnR w="12700" cmpd="sng">
                      <a:noFill/>
                    </a:lnR>
                    <a:lnT w="12700" cmpd="sng">
                      <a:noFill/>
                    </a:lnT>
                    <a:lnB w="25400" cmpd="sng">
                      <a:noFill/>
                    </a:lnB>
                    <a:lnTlToBr w="12700" cmpd="sng">
                      <a:noFill/>
                      <a:prstDash val="solid"/>
                    </a:lnTlToBr>
                    <a:lnBlToTr w="12700" cmpd="sng">
                      <a:noFill/>
                      <a:prstDash val="solid"/>
                    </a:lnBlToTr>
                  </a:tcPr>
                </a:tc>
              </a:tr>
              <a:tr h="4395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Times New Roman" panose="02020603050405020304" pitchFamily="18" charset="0"/>
                        </a:rPr>
                        <a:t>Identify Strategic Priorities</a:t>
                      </a:r>
                      <a:endParaRPr lang="en-US" sz="2800" dirty="0">
                        <a:solidFill>
                          <a:srgbClr val="513E35"/>
                        </a:solidFill>
                        <a:latin typeface="Cambria Math" panose="02040503050406030204" pitchFamily="18" charset="0"/>
                        <a:ea typeface="Cambria Math" panose="02040503050406030204" pitchFamily="18" charset="0"/>
                      </a:endParaRPr>
                    </a:p>
                  </a:txBody>
                  <a:tcPr>
                    <a:lnL w="12700" cmpd="sng">
                      <a:noFill/>
                    </a:lnL>
                    <a:lnR w="12700" cmpd="sng">
                      <a:noFill/>
                    </a:lnR>
                    <a:lnT w="25400" cmpd="sng">
                      <a:noFill/>
                    </a:lnT>
                    <a:lnB w="12700" cmpd="sng">
                      <a:noFill/>
                    </a:lnB>
                    <a:lnTlToBr w="12700" cmpd="sng">
                      <a:noFill/>
                      <a:prstDash val="solid"/>
                    </a:lnTlToBr>
                    <a:lnBlToTr w="12700" cmpd="sng">
                      <a:noFill/>
                      <a:prstDash val="solid"/>
                    </a:lnBlToTr>
                  </a:tcPr>
                </a:tc>
                <a:tc>
                  <a:txBody>
                    <a:bodyPr/>
                    <a:lstStyle/>
                    <a:p>
                      <a:pPr algn="ctr"/>
                      <a:r>
                        <a:rPr lang="en-US" sz="1800" b="1" kern="12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mn-cs"/>
                        </a:rPr>
                        <a:t>√</a:t>
                      </a:r>
                      <a:endParaRPr lang="en-US" b="1" dirty="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a:txBody>
                  <a:tcPr anchor="b">
                    <a:lnL w="12700" cmpd="sng">
                      <a:noFill/>
                    </a:lnL>
                    <a:lnR w="12700" cmpd="sng">
                      <a:noFill/>
                    </a:lnR>
                    <a:lnT w="25400" cmpd="sng">
                      <a:noFill/>
                    </a:lnT>
                    <a:lnB w="12700" cmpd="sng">
                      <a:noFill/>
                    </a:lnB>
                    <a:lnTlToBr w="12700" cmpd="sng">
                      <a:noFill/>
                      <a:prstDash val="solid"/>
                    </a:lnTlToBr>
                    <a:lnBlToTr w="12700" cmpd="sng">
                      <a:noFill/>
                      <a:prstDash val="solid"/>
                    </a:lnBlToTr>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Times New Roman" panose="02020603050405020304" pitchFamily="18" charset="0"/>
                        </a:rPr>
                        <a:t>Draft Actionable Objectives</a:t>
                      </a:r>
                      <a:endParaRPr lang="en-US" sz="2800" dirty="0">
                        <a:solidFill>
                          <a:srgbClr val="513E35"/>
                        </a:solidFill>
                        <a:latin typeface="Cambria Math" panose="02040503050406030204" pitchFamily="18" charset="0"/>
                        <a:ea typeface="Cambria Math" panose="020405030504060302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b="1" kern="12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mn-cs"/>
                        </a:rPr>
                        <a:t>√</a:t>
                      </a:r>
                      <a:endParaRPr lang="en-US" dirty="0">
                        <a:solidFill>
                          <a:srgbClr val="513E35"/>
                        </a:solidFill>
                      </a:endParaRP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Communicate findings </a:t>
                      </a:r>
                      <a:endParaRPr lang="en-US" sz="2800" dirty="0">
                        <a:solidFill>
                          <a:srgbClr val="513E35"/>
                        </a:solidFill>
                        <a:latin typeface="Cambria Math" panose="02040503050406030204" pitchFamily="18" charset="0"/>
                        <a:ea typeface="Cambria Math" panose="020405030504060302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b="1" kern="120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mn-cs"/>
                        </a:rPr>
                        <a:t>√</a:t>
                      </a:r>
                      <a:endParaRPr lang="en-US" dirty="0"/>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Times New Roman" panose="02020603050405020304" pitchFamily="18" charset="0"/>
                        </a:rPr>
                        <a:t>Develop Operational </a:t>
                      </a:r>
                      <a:r>
                        <a:rPr lang="en-US" sz="2800" b="1" baseline="0"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Times New Roman" panose="02020603050405020304" pitchFamily="18" charset="0"/>
                        </a:rPr>
                        <a:t>Processes (SOP’s)</a:t>
                      </a:r>
                      <a:endParaRPr lang="en-US" sz="2800" dirty="0">
                        <a:solidFill>
                          <a:srgbClr val="513E35"/>
                        </a:solidFill>
                        <a:latin typeface="Cambria Math" panose="02040503050406030204" pitchFamily="18" charset="0"/>
                        <a:ea typeface="Cambria Math" panose="020405030504060302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dirty="0"/>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Assign ownership for Actionable Objectives</a:t>
                      </a:r>
                      <a:endParaRPr lang="en-US" sz="2800" dirty="0">
                        <a:solidFill>
                          <a:srgbClr val="513E35"/>
                        </a:solidFill>
                        <a:latin typeface="Cambria Math" panose="02040503050406030204" pitchFamily="18" charset="0"/>
                        <a:ea typeface="Cambria Math" panose="020405030504060302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dirty="0"/>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smtClean="0">
                          <a:solidFill>
                            <a:srgbClr val="513E35"/>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Create a Realistic Timeline for Implementation</a:t>
                      </a:r>
                      <a:endParaRPr lang="en-US" sz="2800" dirty="0">
                        <a:solidFill>
                          <a:srgbClr val="513E35"/>
                        </a:solidFill>
                        <a:latin typeface="Cambria Math" panose="02040503050406030204" pitchFamily="18" charset="0"/>
                        <a:ea typeface="Cambria Math" panose="020405030504060302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dirty="0"/>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800" dirty="0">
                        <a:solidFill>
                          <a:srgbClr val="513E35"/>
                        </a:solidFill>
                        <a:latin typeface="Cambria Math" panose="02040503050406030204" pitchFamily="18" charset="0"/>
                        <a:ea typeface="Cambria Math" panose="020405030504060302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dirty="0"/>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r>
            </a:tbl>
          </a:graphicData>
        </a:graphic>
      </p:graphicFrame>
    </p:spTree>
    <p:extLst>
      <p:ext uri="{BB962C8B-B14F-4D97-AF65-F5344CB8AC3E}">
        <p14:creationId xmlns:p14="http://schemas.microsoft.com/office/powerpoint/2010/main" val="549139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wipe(left)">
                                      <p:cBhvr>
                                        <p:cTn id="7" dur="100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0" y="-114810"/>
            <a:ext cx="12191999" cy="6858000"/>
          </a:xfrm>
          <a:prstGeom prst="rect">
            <a:avLst/>
          </a:prstGeom>
        </p:spPr>
      </p:pic>
      <p:sp>
        <p:nvSpPr>
          <p:cNvPr id="5" name="Title 1"/>
          <p:cNvSpPr txBox="1">
            <a:spLocks/>
          </p:cNvSpPr>
          <p:nvPr/>
        </p:nvSpPr>
        <p:spPr>
          <a:xfrm>
            <a:off x="933590" y="309221"/>
            <a:ext cx="10690578" cy="1320322"/>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spcAft>
                <a:spcPts val="300"/>
              </a:spcAft>
            </a:pPr>
            <a:r>
              <a:rPr lang="en-US" sz="55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Faith – Focused </a:t>
            </a:r>
            <a:r>
              <a:rPr lang="en-US" sz="55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Forward             </a:t>
            </a:r>
          </a:p>
          <a:p>
            <a:pPr algn="ctr">
              <a:spcBef>
                <a:spcPts val="0"/>
              </a:spcBef>
              <a:spcAft>
                <a:spcPts val="300"/>
              </a:spcAft>
            </a:pPr>
            <a:r>
              <a:rPr lang="en-US" sz="31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Leadership Conference Church Meeting </a:t>
            </a:r>
            <a:endParaRPr lang="en-US" sz="31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10" name="TextBox 9"/>
          <p:cNvSpPr txBox="1"/>
          <p:nvPr/>
        </p:nvSpPr>
        <p:spPr>
          <a:xfrm>
            <a:off x="0" y="6585978"/>
            <a:ext cx="12192000" cy="372438"/>
          </a:xfrm>
          <a:prstGeom prst="rect">
            <a:avLst/>
          </a:prstGeom>
          <a:solidFill>
            <a:srgbClr val="513E35"/>
          </a:solidFill>
        </p:spPr>
        <p:txBody>
          <a:bodyPr wrap="square" rtlCol="0">
            <a:spAutoFit/>
          </a:bodyPr>
          <a:lstStyle/>
          <a:p>
            <a:endParaRPr lang="en-US" dirty="0">
              <a:ln>
                <a:solidFill>
                  <a:srgbClr val="335020"/>
                </a:solidFill>
              </a:ln>
              <a:solidFill>
                <a:schemeClr val="accent1"/>
              </a:solidFill>
            </a:endParaRPr>
          </a:p>
        </p:txBody>
      </p:sp>
      <p:sp>
        <p:nvSpPr>
          <p:cNvPr id="9" name="TextBox 8"/>
          <p:cNvSpPr txBox="1"/>
          <p:nvPr/>
        </p:nvSpPr>
        <p:spPr>
          <a:xfrm>
            <a:off x="3611879" y="2387385"/>
            <a:ext cx="5334000" cy="1200329"/>
          </a:xfrm>
          <a:prstGeom prst="rect">
            <a:avLst/>
          </a:prstGeom>
          <a:noFill/>
          <a:effectLst>
            <a:softEdge rad="31750"/>
          </a:effectLst>
        </p:spPr>
        <p:txBody>
          <a:bodyPr wrap="square" rtlCol="0">
            <a:spAutoFit/>
          </a:bodyPr>
          <a:lstStyle/>
          <a:p>
            <a:pPr algn="ctr"/>
            <a:r>
              <a:rPr lang="en-US" sz="7200" b="1" i="1" dirty="0" smtClean="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Questions</a:t>
            </a:r>
            <a:endParaRPr lang="en-US" sz="7200" b="1" i="1" dirty="0">
              <a:solidFill>
                <a:srgbClr val="513E35"/>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45472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heme/theme1.xml><?xml version="1.0" encoding="utf-8"?>
<a:theme xmlns:a="http://schemas.openxmlformats.org/drawingml/2006/main" name="Office Theme">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4077</TotalTime>
  <Words>1112</Words>
  <Application>Microsoft Office PowerPoint</Application>
  <PresentationFormat>Widescreen</PresentationFormat>
  <Paragraphs>150</Paragraphs>
  <Slides>23</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Calibri Light</vt:lpstr>
      <vt:lpstr>Cambria</vt:lpstr>
      <vt:lpstr>Cambria Math</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Jackie Lundy</dc:creator>
  <cp:lastModifiedBy>Jackie Lundy</cp:lastModifiedBy>
  <cp:revision>471</cp:revision>
  <cp:lastPrinted>2026-04-11T00:33:50Z</cp:lastPrinted>
  <dcterms:created xsi:type="dcterms:W3CDTF">2025-12-27T03:13:01Z</dcterms:created>
  <dcterms:modified xsi:type="dcterms:W3CDTF">2026-06-30T19:42:03Z</dcterms:modified>
</cp:coreProperties>
</file>